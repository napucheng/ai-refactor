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62" r:id="rId3"/>
    <p:sldId id="260" r:id="rId4"/>
    <p:sldId id="289" r:id="rId5"/>
    <p:sldId id="258" r:id="rId6"/>
    <p:sldId id="259" r:id="rId7"/>
    <p:sldId id="265" r:id="rId8"/>
    <p:sldId id="263" r:id="rId9"/>
    <p:sldId id="264" r:id="rId10"/>
    <p:sldId id="268" r:id="rId11"/>
    <p:sldId id="261" r:id="rId12"/>
    <p:sldId id="266" r:id="rId13"/>
    <p:sldId id="267" r:id="rId14"/>
    <p:sldId id="275" r:id="rId15"/>
    <p:sldId id="274" r:id="rId16"/>
    <p:sldId id="269" r:id="rId17"/>
    <p:sldId id="270" r:id="rId18"/>
    <p:sldId id="285" r:id="rId19"/>
    <p:sldId id="287" r:id="rId20"/>
    <p:sldId id="286" r:id="rId21"/>
    <p:sldId id="283" r:id="rId22"/>
    <p:sldId id="288" r:id="rId23"/>
    <p:sldId id="273" r:id="rId24"/>
    <p:sldId id="276" r:id="rId25"/>
    <p:sldId id="277" r:id="rId26"/>
    <p:sldId id="278" r:id="rId27"/>
    <p:sldId id="279" r:id="rId28"/>
    <p:sldId id="280" r:id="rId29"/>
    <p:sldId id="272" r:id="rId30"/>
    <p:sldId id="281" r:id="rId31"/>
    <p:sldId id="271" r:id="rId32"/>
    <p:sldId id="284" r:id="rId33"/>
    <p:sldId id="290" r:id="rId34"/>
    <p:sldId id="291" r:id="rId35"/>
    <p:sldId id="292"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3357" autoAdjust="0"/>
  </p:normalViewPr>
  <p:slideViewPr>
    <p:cSldViewPr snapToGrid="0">
      <p:cViewPr varScale="1">
        <p:scale>
          <a:sx n="115" d="100"/>
          <a:sy n="115" d="100"/>
        </p:scale>
        <p:origin x="253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宁 高" userId="438cd512f268f2fd" providerId="LiveId" clId="{5171EA76-638F-4FD6-AC7C-B6040AAAC9B6}"/>
    <pc:docChg chg="delSld modSld">
      <pc:chgData name="宁 高" userId="438cd512f268f2fd" providerId="LiveId" clId="{5171EA76-638F-4FD6-AC7C-B6040AAAC9B6}" dt="2026-04-17T15:42:06.771" v="2" actId="21"/>
      <pc:docMkLst>
        <pc:docMk/>
      </pc:docMkLst>
      <pc:sldChg chg="del">
        <pc:chgData name="宁 高" userId="438cd512f268f2fd" providerId="LiveId" clId="{5171EA76-638F-4FD6-AC7C-B6040AAAC9B6}" dt="2026-04-17T15:41:45.678" v="0" actId="47"/>
        <pc:sldMkLst>
          <pc:docMk/>
          <pc:sldMk cId="0" sldId="257"/>
        </pc:sldMkLst>
      </pc:sldChg>
      <pc:sldChg chg="modSp mod">
        <pc:chgData name="宁 高" userId="438cd512f268f2fd" providerId="LiveId" clId="{5171EA76-638F-4FD6-AC7C-B6040AAAC9B6}" dt="2026-04-17T15:42:06.771" v="2" actId="21"/>
        <pc:sldMkLst>
          <pc:docMk/>
          <pc:sldMk cId="712564759" sldId="291"/>
        </pc:sldMkLst>
        <pc:spChg chg="mod">
          <ac:chgData name="宁 高" userId="438cd512f268f2fd" providerId="LiveId" clId="{5171EA76-638F-4FD6-AC7C-B6040AAAC9B6}" dt="2026-04-17T15:42:06.771" v="2" actId="21"/>
          <ac:spMkLst>
            <pc:docMk/>
            <pc:sldMk cId="712564759" sldId="291"/>
            <ac:spMk id="2" creationId="{450CC3AB-1DF1-135E-D214-DE39BA5892EE}"/>
          </ac:spMkLst>
        </pc:spChg>
      </pc:sldChg>
      <pc:sldChg chg="del">
        <pc:chgData name="宁 高" userId="438cd512f268f2fd" providerId="LiveId" clId="{5171EA76-638F-4FD6-AC7C-B6040AAAC9B6}" dt="2026-04-17T15:41:45.678" v="0" actId="47"/>
        <pc:sldMkLst>
          <pc:docMk/>
          <pc:sldMk cId="0" sldId="293"/>
        </pc:sldMkLst>
      </pc:sldChg>
      <pc:sldChg chg="del">
        <pc:chgData name="宁 高" userId="438cd512f268f2fd" providerId="LiveId" clId="{5171EA76-638F-4FD6-AC7C-B6040AAAC9B6}" dt="2026-04-17T15:41:48.954" v="1" actId="47"/>
        <pc:sldMkLst>
          <pc:docMk/>
          <pc:sldMk cId="0" sldId="360"/>
        </pc:sldMkLst>
      </pc:sldChg>
      <pc:sldMasterChg chg="delSldLayout">
        <pc:chgData name="宁 高" userId="438cd512f268f2fd" providerId="LiveId" clId="{5171EA76-638F-4FD6-AC7C-B6040AAAC9B6}" dt="2026-04-17T15:41:45.678" v="0" actId="47"/>
        <pc:sldMasterMkLst>
          <pc:docMk/>
          <pc:sldMasterMk cId="3349073607" sldId="2147483648"/>
        </pc:sldMasterMkLst>
        <pc:sldLayoutChg chg="del">
          <pc:chgData name="宁 高" userId="438cd512f268f2fd" providerId="LiveId" clId="{5171EA76-638F-4FD6-AC7C-B6040AAAC9B6}" dt="2026-04-17T15:41:45.678" v="0" actId="47"/>
          <pc:sldLayoutMkLst>
            <pc:docMk/>
            <pc:sldMasterMk cId="3349073607" sldId="2147483648"/>
            <pc:sldLayoutMk cId="2873949143" sldId="2147483660"/>
          </pc:sldLayoutMkLst>
        </pc:sldLayoutChg>
      </pc:sldMasterChg>
    </pc:docChg>
  </pc:docChgLst>
  <pc:docChgLst>
    <pc:chgData name="宁 高" userId="438cd512f268f2fd" providerId="LiveId" clId="{036A1363-F1ED-4ECD-9F7D-38E78BE630D3}"/>
    <pc:docChg chg="undo custSel addSld delSld modSld sldOrd">
      <pc:chgData name="宁 高" userId="438cd512f268f2fd" providerId="LiveId" clId="{036A1363-F1ED-4ECD-9F7D-38E78BE630D3}" dt="2026-04-15T09:24:24.150" v="11220" actId="20577"/>
      <pc:docMkLst>
        <pc:docMk/>
      </pc:docMkLst>
      <pc:sldChg chg="modNotesTx">
        <pc:chgData name="宁 高" userId="438cd512f268f2fd" providerId="LiveId" clId="{036A1363-F1ED-4ECD-9F7D-38E78BE630D3}" dt="2026-04-14T00:34:45.219" v="4988" actId="20577"/>
        <pc:sldMkLst>
          <pc:docMk/>
          <pc:sldMk cId="2042777094" sldId="256"/>
        </pc:sldMkLst>
      </pc:sldChg>
      <pc:sldChg chg="modSp add mod">
        <pc:chgData name="宁 高" userId="438cd512f268f2fd" providerId="LiveId" clId="{036A1363-F1ED-4ECD-9F7D-38E78BE630D3}" dt="2026-04-15T02:37:57.919" v="11203" actId="207"/>
        <pc:sldMkLst>
          <pc:docMk/>
          <pc:sldMk cId="0" sldId="257"/>
        </pc:sldMkLst>
        <pc:spChg chg="mod">
          <ac:chgData name="宁 高" userId="438cd512f268f2fd" providerId="LiveId" clId="{036A1363-F1ED-4ECD-9F7D-38E78BE630D3}" dt="2026-04-15T02:37:57.919" v="11203" actId="207"/>
          <ac:spMkLst>
            <pc:docMk/>
            <pc:sldMk cId="0" sldId="257"/>
            <ac:spMk id="306" creationId="{00000000-0000-0000-0000-000000000000}"/>
          </ac:spMkLst>
        </pc:spChg>
      </pc:sldChg>
      <pc:sldChg chg="modSp mod">
        <pc:chgData name="宁 高" userId="438cd512f268f2fd" providerId="LiveId" clId="{036A1363-F1ED-4ECD-9F7D-38E78BE630D3}" dt="2026-04-13T17:26:23.200" v="94" actId="20577"/>
        <pc:sldMkLst>
          <pc:docMk/>
          <pc:sldMk cId="2646086822" sldId="259"/>
        </pc:sldMkLst>
        <pc:spChg chg="mod">
          <ac:chgData name="宁 高" userId="438cd512f268f2fd" providerId="LiveId" clId="{036A1363-F1ED-4ECD-9F7D-38E78BE630D3}" dt="2026-04-13T17:26:23.200" v="94" actId="20577"/>
          <ac:spMkLst>
            <pc:docMk/>
            <pc:sldMk cId="2646086822" sldId="259"/>
            <ac:spMk id="3" creationId="{15258F97-8A14-4F0B-A160-1A5C59A5C957}"/>
          </ac:spMkLst>
        </pc:spChg>
      </pc:sldChg>
      <pc:sldChg chg="modSp mod">
        <pc:chgData name="宁 高" userId="438cd512f268f2fd" providerId="LiveId" clId="{036A1363-F1ED-4ECD-9F7D-38E78BE630D3}" dt="2026-04-14T01:45:32.270" v="11184" actId="20577"/>
        <pc:sldMkLst>
          <pc:docMk/>
          <pc:sldMk cId="1532566433" sldId="260"/>
        </pc:sldMkLst>
        <pc:spChg chg="mod">
          <ac:chgData name="宁 高" userId="438cd512f268f2fd" providerId="LiveId" clId="{036A1363-F1ED-4ECD-9F7D-38E78BE630D3}" dt="2026-04-14T01:38:27.837" v="10431" actId="20577"/>
          <ac:spMkLst>
            <pc:docMk/>
            <pc:sldMk cId="1532566433" sldId="260"/>
            <ac:spMk id="2" creationId="{9320A303-F9F9-4391-BD63-129848904B7F}"/>
          </ac:spMkLst>
        </pc:spChg>
        <pc:spChg chg="mod">
          <ac:chgData name="宁 高" userId="438cd512f268f2fd" providerId="LiveId" clId="{036A1363-F1ED-4ECD-9F7D-38E78BE630D3}" dt="2026-04-14T01:45:32.270" v="11184" actId="20577"/>
          <ac:spMkLst>
            <pc:docMk/>
            <pc:sldMk cId="1532566433" sldId="260"/>
            <ac:spMk id="3" creationId="{6F93E69D-F69B-4487-ABD1-C0898C256E60}"/>
          </ac:spMkLst>
        </pc:spChg>
      </pc:sldChg>
      <pc:sldChg chg="modSp add mod">
        <pc:chgData name="宁 高" userId="438cd512f268f2fd" providerId="LiveId" clId="{036A1363-F1ED-4ECD-9F7D-38E78BE630D3}" dt="2026-04-15T09:24:24.150" v="11220" actId="20577"/>
        <pc:sldMkLst>
          <pc:docMk/>
          <pc:sldMk cId="766985684" sldId="261"/>
        </pc:sldMkLst>
        <pc:spChg chg="mod">
          <ac:chgData name="宁 高" userId="438cd512f268f2fd" providerId="LiveId" clId="{036A1363-F1ED-4ECD-9F7D-38E78BE630D3}" dt="2026-04-13T17:29:41.866" v="423" actId="20577"/>
          <ac:spMkLst>
            <pc:docMk/>
            <pc:sldMk cId="766985684" sldId="261"/>
            <ac:spMk id="2" creationId="{47A87802-3D92-C02F-ACE9-BB91664AECAE}"/>
          </ac:spMkLst>
        </pc:spChg>
        <pc:spChg chg="mod">
          <ac:chgData name="宁 高" userId="438cd512f268f2fd" providerId="LiveId" clId="{036A1363-F1ED-4ECD-9F7D-38E78BE630D3}" dt="2026-04-15T09:24:24.150" v="11220" actId="20577"/>
          <ac:spMkLst>
            <pc:docMk/>
            <pc:sldMk cId="766985684" sldId="261"/>
            <ac:spMk id="3" creationId="{F56477FD-7D3B-6364-60AE-9D5E0953F51B}"/>
          </ac:spMkLst>
        </pc:spChg>
      </pc:sldChg>
      <pc:sldChg chg="modSp add mod ord">
        <pc:chgData name="宁 高" userId="438cd512f268f2fd" providerId="LiveId" clId="{036A1363-F1ED-4ECD-9F7D-38E78BE630D3}" dt="2026-04-14T00:34:50.392" v="4994" actId="20577"/>
        <pc:sldMkLst>
          <pc:docMk/>
          <pc:sldMk cId="2130619087" sldId="262"/>
        </pc:sldMkLst>
        <pc:spChg chg="mod">
          <ac:chgData name="宁 高" userId="438cd512f268f2fd" providerId="LiveId" clId="{036A1363-F1ED-4ECD-9F7D-38E78BE630D3}" dt="2026-04-14T00:34:50.392" v="4994" actId="20577"/>
          <ac:spMkLst>
            <pc:docMk/>
            <pc:sldMk cId="2130619087" sldId="262"/>
            <ac:spMk id="3" creationId="{997322E8-D3AC-A649-3CED-4FA6E333FF9D}"/>
          </ac:spMkLst>
        </pc:spChg>
      </pc:sldChg>
      <pc:sldChg chg="modSp add mod">
        <pc:chgData name="宁 高" userId="438cd512f268f2fd" providerId="LiveId" clId="{036A1363-F1ED-4ECD-9F7D-38E78BE630D3}" dt="2026-04-13T18:02:40.016" v="2539" actId="20577"/>
        <pc:sldMkLst>
          <pc:docMk/>
          <pc:sldMk cId="3309672958" sldId="263"/>
        </pc:sldMkLst>
        <pc:spChg chg="mod">
          <ac:chgData name="宁 高" userId="438cd512f268f2fd" providerId="LiveId" clId="{036A1363-F1ED-4ECD-9F7D-38E78BE630D3}" dt="2026-04-13T17:45:05.895" v="1355" actId="20577"/>
          <ac:spMkLst>
            <pc:docMk/>
            <pc:sldMk cId="3309672958" sldId="263"/>
            <ac:spMk id="2" creationId="{4AE167D1-85EA-2236-6B01-BE320CC30357}"/>
          </ac:spMkLst>
        </pc:spChg>
        <pc:spChg chg="mod">
          <ac:chgData name="宁 高" userId="438cd512f268f2fd" providerId="LiveId" clId="{036A1363-F1ED-4ECD-9F7D-38E78BE630D3}" dt="2026-04-13T18:02:40.016" v="2539" actId="20577"/>
          <ac:spMkLst>
            <pc:docMk/>
            <pc:sldMk cId="3309672958" sldId="263"/>
            <ac:spMk id="3" creationId="{BB441C41-C4E2-4C67-884B-BD9284CFF0FC}"/>
          </ac:spMkLst>
        </pc:spChg>
      </pc:sldChg>
      <pc:sldChg chg="addSp modSp add mod">
        <pc:chgData name="宁 高" userId="438cd512f268f2fd" providerId="LiveId" clId="{036A1363-F1ED-4ECD-9F7D-38E78BE630D3}" dt="2026-04-14T01:16:01.437" v="8703" actId="20577"/>
        <pc:sldMkLst>
          <pc:docMk/>
          <pc:sldMk cId="285656784" sldId="264"/>
        </pc:sldMkLst>
        <pc:spChg chg="mod">
          <ac:chgData name="宁 高" userId="438cd512f268f2fd" providerId="LiveId" clId="{036A1363-F1ED-4ECD-9F7D-38E78BE630D3}" dt="2026-04-14T01:16:01.437" v="8703" actId="20577"/>
          <ac:spMkLst>
            <pc:docMk/>
            <pc:sldMk cId="285656784" sldId="264"/>
            <ac:spMk id="3" creationId="{DA789B20-AD02-195A-6F73-78F79ACC5617}"/>
          </ac:spMkLst>
        </pc:spChg>
        <pc:picChg chg="add mod">
          <ac:chgData name="宁 高" userId="438cd512f268f2fd" providerId="LiveId" clId="{036A1363-F1ED-4ECD-9F7D-38E78BE630D3}" dt="2026-04-13T17:51:13.286" v="1601" actId="1076"/>
          <ac:picMkLst>
            <pc:docMk/>
            <pc:sldMk cId="285656784" sldId="264"/>
            <ac:picMk id="5" creationId="{72CD234F-E416-6F41-A8CA-41F5C2E7F081}"/>
          </ac:picMkLst>
        </pc:picChg>
      </pc:sldChg>
      <pc:sldChg chg="modSp add mod">
        <pc:chgData name="宁 高" userId="438cd512f268f2fd" providerId="LiveId" clId="{036A1363-F1ED-4ECD-9F7D-38E78BE630D3}" dt="2026-04-13T18:07:57.408" v="2971" actId="20577"/>
        <pc:sldMkLst>
          <pc:docMk/>
          <pc:sldMk cId="1869789773" sldId="265"/>
        </pc:sldMkLst>
        <pc:spChg chg="mod">
          <ac:chgData name="宁 高" userId="438cd512f268f2fd" providerId="LiveId" clId="{036A1363-F1ED-4ECD-9F7D-38E78BE630D3}" dt="2026-04-13T18:06:20.536" v="2717" actId="20577"/>
          <ac:spMkLst>
            <pc:docMk/>
            <pc:sldMk cId="1869789773" sldId="265"/>
            <ac:spMk id="2" creationId="{FE026865-F444-01A8-A2E5-5546C60B1E33}"/>
          </ac:spMkLst>
        </pc:spChg>
        <pc:spChg chg="mod">
          <ac:chgData name="宁 高" userId="438cd512f268f2fd" providerId="LiveId" clId="{036A1363-F1ED-4ECD-9F7D-38E78BE630D3}" dt="2026-04-13T18:07:57.408" v="2971" actId="20577"/>
          <ac:spMkLst>
            <pc:docMk/>
            <pc:sldMk cId="1869789773" sldId="265"/>
            <ac:spMk id="3" creationId="{0AC0BDC0-FF88-EBE4-454B-E923C0DDE079}"/>
          </ac:spMkLst>
        </pc:spChg>
      </pc:sldChg>
      <pc:sldChg chg="addSp modSp add mod">
        <pc:chgData name="宁 高" userId="438cd512f268f2fd" providerId="LiveId" clId="{036A1363-F1ED-4ECD-9F7D-38E78BE630D3}" dt="2026-04-13T18:17:59.363" v="3403" actId="20577"/>
        <pc:sldMkLst>
          <pc:docMk/>
          <pc:sldMk cId="1252651160" sldId="266"/>
        </pc:sldMkLst>
        <pc:spChg chg="mod">
          <ac:chgData name="宁 高" userId="438cd512f268f2fd" providerId="LiveId" clId="{036A1363-F1ED-4ECD-9F7D-38E78BE630D3}" dt="2026-04-13T18:10:59.402" v="3047" actId="20577"/>
          <ac:spMkLst>
            <pc:docMk/>
            <pc:sldMk cId="1252651160" sldId="266"/>
            <ac:spMk id="2" creationId="{C69C3DD6-C8AF-927E-31A7-BAB43F9165EA}"/>
          </ac:spMkLst>
        </pc:spChg>
        <pc:spChg chg="mod">
          <ac:chgData name="宁 高" userId="438cd512f268f2fd" providerId="LiveId" clId="{036A1363-F1ED-4ECD-9F7D-38E78BE630D3}" dt="2026-04-13T18:17:59.363" v="3403" actId="20577"/>
          <ac:spMkLst>
            <pc:docMk/>
            <pc:sldMk cId="1252651160" sldId="266"/>
            <ac:spMk id="3" creationId="{8818D164-84C5-A82F-341D-74343786AB43}"/>
          </ac:spMkLst>
        </pc:spChg>
        <pc:picChg chg="add mod">
          <ac:chgData name="宁 高" userId="438cd512f268f2fd" providerId="LiveId" clId="{036A1363-F1ED-4ECD-9F7D-38E78BE630D3}" dt="2026-04-13T18:14:38.713" v="3089" actId="1076"/>
          <ac:picMkLst>
            <pc:docMk/>
            <pc:sldMk cId="1252651160" sldId="266"/>
            <ac:picMk id="5" creationId="{C7593644-FE3A-27D6-4231-118E6C15C2B2}"/>
          </ac:picMkLst>
        </pc:picChg>
        <pc:picChg chg="add mod">
          <ac:chgData name="宁 高" userId="438cd512f268f2fd" providerId="LiveId" clId="{036A1363-F1ED-4ECD-9F7D-38E78BE630D3}" dt="2026-04-13T18:14:38.713" v="3089" actId="1076"/>
          <ac:picMkLst>
            <pc:docMk/>
            <pc:sldMk cId="1252651160" sldId="266"/>
            <ac:picMk id="7" creationId="{547F1EAA-57FF-37F3-3622-0C734E8060F4}"/>
          </ac:picMkLst>
        </pc:picChg>
      </pc:sldChg>
      <pc:sldChg chg="delSp modSp add mod">
        <pc:chgData name="宁 高" userId="438cd512f268f2fd" providerId="LiveId" clId="{036A1363-F1ED-4ECD-9F7D-38E78BE630D3}" dt="2026-04-14T00:40:17.409" v="5743" actId="20577"/>
        <pc:sldMkLst>
          <pc:docMk/>
          <pc:sldMk cId="3697973064" sldId="267"/>
        </pc:sldMkLst>
        <pc:spChg chg="mod">
          <ac:chgData name="宁 高" userId="438cd512f268f2fd" providerId="LiveId" clId="{036A1363-F1ED-4ECD-9F7D-38E78BE630D3}" dt="2026-04-14T00:35:19.769" v="5019" actId="20577"/>
          <ac:spMkLst>
            <pc:docMk/>
            <pc:sldMk cId="3697973064" sldId="267"/>
            <ac:spMk id="2" creationId="{67F85BC0-DB9D-8CBB-71D9-678CF872E7D4}"/>
          </ac:spMkLst>
        </pc:spChg>
        <pc:spChg chg="mod">
          <ac:chgData name="宁 高" userId="438cd512f268f2fd" providerId="LiveId" clId="{036A1363-F1ED-4ECD-9F7D-38E78BE630D3}" dt="2026-04-14T00:40:17.409" v="5743" actId="20577"/>
          <ac:spMkLst>
            <pc:docMk/>
            <pc:sldMk cId="3697973064" sldId="267"/>
            <ac:spMk id="3" creationId="{636EADCB-C993-06CF-4771-A2CBE63AE629}"/>
          </ac:spMkLst>
        </pc:spChg>
      </pc:sldChg>
      <pc:sldChg chg="modSp add mod ord">
        <pc:chgData name="宁 高" userId="438cd512f268f2fd" providerId="LiveId" clId="{036A1363-F1ED-4ECD-9F7D-38E78BE630D3}" dt="2026-04-13T21:58:08.019" v="4213" actId="27636"/>
        <pc:sldMkLst>
          <pc:docMk/>
          <pc:sldMk cId="1634922570" sldId="268"/>
        </pc:sldMkLst>
        <pc:spChg chg="mod">
          <ac:chgData name="宁 高" userId="438cd512f268f2fd" providerId="LiveId" clId="{036A1363-F1ED-4ECD-9F7D-38E78BE630D3}" dt="2026-04-13T21:57:28.082" v="4067" actId="20577"/>
          <ac:spMkLst>
            <pc:docMk/>
            <pc:sldMk cId="1634922570" sldId="268"/>
            <ac:spMk id="2" creationId="{91D33C98-2575-C20D-DED4-EA619C3083DE}"/>
          </ac:spMkLst>
        </pc:spChg>
        <pc:spChg chg="mod">
          <ac:chgData name="宁 高" userId="438cd512f268f2fd" providerId="LiveId" clId="{036A1363-F1ED-4ECD-9F7D-38E78BE630D3}" dt="2026-04-13T21:58:08.019" v="4213" actId="27636"/>
          <ac:spMkLst>
            <pc:docMk/>
            <pc:sldMk cId="1634922570" sldId="268"/>
            <ac:spMk id="3" creationId="{F69067F5-0042-7AE1-A70A-A42D48954E77}"/>
          </ac:spMkLst>
        </pc:spChg>
      </pc:sldChg>
      <pc:sldChg chg="modSp add mod">
        <pc:chgData name="宁 高" userId="438cd512f268f2fd" providerId="LiveId" clId="{036A1363-F1ED-4ECD-9F7D-38E78BE630D3}" dt="2026-04-14T00:34:08.486" v="4987" actId="15"/>
        <pc:sldMkLst>
          <pc:docMk/>
          <pc:sldMk cId="1549472604" sldId="269"/>
        </pc:sldMkLst>
        <pc:spChg chg="mod">
          <ac:chgData name="宁 高" userId="438cd512f268f2fd" providerId="LiveId" clId="{036A1363-F1ED-4ECD-9F7D-38E78BE630D3}" dt="2026-04-14T00:33:27.636" v="4867" actId="20577"/>
          <ac:spMkLst>
            <pc:docMk/>
            <pc:sldMk cId="1549472604" sldId="269"/>
            <ac:spMk id="2" creationId="{B498ABA3-40F4-04C2-6EBB-3339049D6202}"/>
          </ac:spMkLst>
        </pc:spChg>
        <pc:spChg chg="mod">
          <ac:chgData name="宁 高" userId="438cd512f268f2fd" providerId="LiveId" clId="{036A1363-F1ED-4ECD-9F7D-38E78BE630D3}" dt="2026-04-14T00:34:08.486" v="4987" actId="15"/>
          <ac:spMkLst>
            <pc:docMk/>
            <pc:sldMk cId="1549472604" sldId="269"/>
            <ac:spMk id="3" creationId="{E100B649-8363-5175-CDF5-312416F07886}"/>
          </ac:spMkLst>
        </pc:spChg>
      </pc:sldChg>
      <pc:sldChg chg="modSp add mod">
        <pc:chgData name="宁 高" userId="438cd512f268f2fd" providerId="LiveId" clId="{036A1363-F1ED-4ECD-9F7D-38E78BE630D3}" dt="2026-04-14T01:21:31.980" v="9076" actId="20577"/>
        <pc:sldMkLst>
          <pc:docMk/>
          <pc:sldMk cId="191338670" sldId="270"/>
        </pc:sldMkLst>
        <pc:spChg chg="mod">
          <ac:chgData name="宁 高" userId="438cd512f268f2fd" providerId="LiveId" clId="{036A1363-F1ED-4ECD-9F7D-38E78BE630D3}" dt="2026-04-14T01:18:49.162" v="8722" actId="20577"/>
          <ac:spMkLst>
            <pc:docMk/>
            <pc:sldMk cId="191338670" sldId="270"/>
            <ac:spMk id="2" creationId="{B7B086D0-2F41-23BD-D781-870ECDAA2121}"/>
          </ac:spMkLst>
        </pc:spChg>
        <pc:spChg chg="mod">
          <ac:chgData name="宁 高" userId="438cd512f268f2fd" providerId="LiveId" clId="{036A1363-F1ED-4ECD-9F7D-38E78BE630D3}" dt="2026-04-14T01:21:31.980" v="9076" actId="20577"/>
          <ac:spMkLst>
            <pc:docMk/>
            <pc:sldMk cId="191338670" sldId="270"/>
            <ac:spMk id="3" creationId="{8BE652BB-61FA-D72D-F66F-12882CD8AEE4}"/>
          </ac:spMkLst>
        </pc:spChg>
      </pc:sldChg>
      <pc:sldChg chg="modSp add mod ord">
        <pc:chgData name="宁 高" userId="438cd512f268f2fd" providerId="LiveId" clId="{036A1363-F1ED-4ECD-9F7D-38E78BE630D3}" dt="2026-04-14T01:36:21.298" v="10150" actId="20577"/>
        <pc:sldMkLst>
          <pc:docMk/>
          <pc:sldMk cId="3522161579" sldId="271"/>
        </pc:sldMkLst>
        <pc:spChg chg="mod">
          <ac:chgData name="宁 高" userId="438cd512f268f2fd" providerId="LiveId" clId="{036A1363-F1ED-4ECD-9F7D-38E78BE630D3}" dt="2026-04-14T01:04:31.271" v="7742" actId="20577"/>
          <ac:spMkLst>
            <pc:docMk/>
            <pc:sldMk cId="3522161579" sldId="271"/>
            <ac:spMk id="2" creationId="{410248D8-956F-907F-4165-B4607D17DF4C}"/>
          </ac:spMkLst>
        </pc:spChg>
        <pc:spChg chg="mod">
          <ac:chgData name="宁 高" userId="438cd512f268f2fd" providerId="LiveId" clId="{036A1363-F1ED-4ECD-9F7D-38E78BE630D3}" dt="2026-04-14T01:36:21.298" v="10150" actId="20577"/>
          <ac:spMkLst>
            <pc:docMk/>
            <pc:sldMk cId="3522161579" sldId="271"/>
            <ac:spMk id="3" creationId="{0C1736CC-036A-1DB7-C31A-9F4CFA8E14DE}"/>
          </ac:spMkLst>
        </pc:spChg>
      </pc:sldChg>
      <pc:sldChg chg="modSp add mod ord">
        <pc:chgData name="宁 高" userId="438cd512f268f2fd" providerId="LiveId" clId="{036A1363-F1ED-4ECD-9F7D-38E78BE630D3}" dt="2026-04-14T01:04:42.694" v="7744"/>
        <pc:sldMkLst>
          <pc:docMk/>
          <pc:sldMk cId="599431785" sldId="272"/>
        </pc:sldMkLst>
        <pc:spChg chg="mod">
          <ac:chgData name="宁 高" userId="438cd512f268f2fd" providerId="LiveId" clId="{036A1363-F1ED-4ECD-9F7D-38E78BE630D3}" dt="2026-04-14T00:27:15.004" v="4678" actId="20577"/>
          <ac:spMkLst>
            <pc:docMk/>
            <pc:sldMk cId="599431785" sldId="272"/>
            <ac:spMk id="2" creationId="{CFAF691C-49CB-A01F-8B39-0643CEA87564}"/>
          </ac:spMkLst>
        </pc:spChg>
        <pc:spChg chg="mod">
          <ac:chgData name="宁 高" userId="438cd512f268f2fd" providerId="LiveId" clId="{036A1363-F1ED-4ECD-9F7D-38E78BE630D3}" dt="2026-04-14T00:43:04.849" v="6371" actId="20577"/>
          <ac:spMkLst>
            <pc:docMk/>
            <pc:sldMk cId="599431785" sldId="272"/>
            <ac:spMk id="3" creationId="{18D748B7-BAD4-72F6-6F65-D994CD53B896}"/>
          </ac:spMkLst>
        </pc:spChg>
      </pc:sldChg>
      <pc:sldChg chg="modSp add mod">
        <pc:chgData name="宁 高" userId="438cd512f268f2fd" providerId="LiveId" clId="{036A1363-F1ED-4ECD-9F7D-38E78BE630D3}" dt="2026-04-14T00:31:54.595" v="4733" actId="113"/>
        <pc:sldMkLst>
          <pc:docMk/>
          <pc:sldMk cId="1105187617" sldId="273"/>
        </pc:sldMkLst>
        <pc:spChg chg="mod">
          <ac:chgData name="宁 高" userId="438cd512f268f2fd" providerId="LiveId" clId="{036A1363-F1ED-4ECD-9F7D-38E78BE630D3}" dt="2026-04-14T00:27:41.002" v="4716" actId="20577"/>
          <ac:spMkLst>
            <pc:docMk/>
            <pc:sldMk cId="1105187617" sldId="273"/>
            <ac:spMk id="2" creationId="{168F6403-1D98-4275-7377-26ABB8F13DB9}"/>
          </ac:spMkLst>
        </pc:spChg>
        <pc:spChg chg="mod">
          <ac:chgData name="宁 高" userId="438cd512f268f2fd" providerId="LiveId" clId="{036A1363-F1ED-4ECD-9F7D-38E78BE630D3}" dt="2026-04-14T00:31:54.595" v="4733" actId="113"/>
          <ac:spMkLst>
            <pc:docMk/>
            <pc:sldMk cId="1105187617" sldId="273"/>
            <ac:spMk id="3" creationId="{776A2427-99C2-798C-BE65-A6C855982F8C}"/>
          </ac:spMkLst>
        </pc:spChg>
      </pc:sldChg>
      <pc:sldChg chg="add">
        <pc:chgData name="宁 高" userId="438cd512f268f2fd" providerId="LiveId" clId="{036A1363-F1ED-4ECD-9F7D-38E78BE630D3}" dt="2026-04-14T00:35:13.923" v="4995"/>
        <pc:sldMkLst>
          <pc:docMk/>
          <pc:sldMk cId="1824310261" sldId="274"/>
        </pc:sldMkLst>
      </pc:sldChg>
      <pc:sldChg chg="modSp add mod">
        <pc:chgData name="宁 高" userId="438cd512f268f2fd" providerId="LiveId" clId="{036A1363-F1ED-4ECD-9F7D-38E78BE630D3}" dt="2026-04-14T00:41:58.921" v="6194" actId="20577"/>
        <pc:sldMkLst>
          <pc:docMk/>
          <pc:sldMk cId="2122774535" sldId="275"/>
        </pc:sldMkLst>
        <pc:spChg chg="mod">
          <ac:chgData name="宁 高" userId="438cd512f268f2fd" providerId="LiveId" clId="{036A1363-F1ED-4ECD-9F7D-38E78BE630D3}" dt="2026-04-14T00:41:58.921" v="6194" actId="20577"/>
          <ac:spMkLst>
            <pc:docMk/>
            <pc:sldMk cId="2122774535" sldId="275"/>
            <ac:spMk id="3" creationId="{A4ABA699-1E8F-61AA-BE52-9A2F5B40D819}"/>
          </ac:spMkLst>
        </pc:spChg>
      </pc:sldChg>
      <pc:sldChg chg="modSp add mod">
        <pc:chgData name="宁 高" userId="438cd512f268f2fd" providerId="LiveId" clId="{036A1363-F1ED-4ECD-9F7D-38E78BE630D3}" dt="2026-04-14T00:45:26.119" v="6405" actId="20577"/>
        <pc:sldMkLst>
          <pc:docMk/>
          <pc:sldMk cId="2346643976" sldId="276"/>
        </pc:sldMkLst>
        <pc:spChg chg="mod">
          <ac:chgData name="宁 高" userId="438cd512f268f2fd" providerId="LiveId" clId="{036A1363-F1ED-4ECD-9F7D-38E78BE630D3}" dt="2026-04-14T00:45:26.119" v="6405" actId="20577"/>
          <ac:spMkLst>
            <pc:docMk/>
            <pc:sldMk cId="2346643976" sldId="276"/>
            <ac:spMk id="3" creationId="{1AE80F8C-56CF-3CB4-6C42-5423C2019FC6}"/>
          </ac:spMkLst>
        </pc:spChg>
      </pc:sldChg>
      <pc:sldChg chg="modSp add mod">
        <pc:chgData name="宁 高" userId="438cd512f268f2fd" providerId="LiveId" clId="{036A1363-F1ED-4ECD-9F7D-38E78BE630D3}" dt="2026-04-14T00:46:09.923" v="6408" actId="27636"/>
        <pc:sldMkLst>
          <pc:docMk/>
          <pc:sldMk cId="1332520597" sldId="277"/>
        </pc:sldMkLst>
        <pc:spChg chg="mod">
          <ac:chgData name="宁 高" userId="438cd512f268f2fd" providerId="LiveId" clId="{036A1363-F1ED-4ECD-9F7D-38E78BE630D3}" dt="2026-04-14T00:46:09.923" v="6408" actId="27636"/>
          <ac:spMkLst>
            <pc:docMk/>
            <pc:sldMk cId="1332520597" sldId="277"/>
            <ac:spMk id="3" creationId="{338F0761-8FAC-E944-AEE7-48167F181384}"/>
          </ac:spMkLst>
        </pc:spChg>
      </pc:sldChg>
      <pc:sldChg chg="modSp add mod">
        <pc:chgData name="宁 高" userId="438cd512f268f2fd" providerId="LiveId" clId="{036A1363-F1ED-4ECD-9F7D-38E78BE630D3}" dt="2026-04-14T00:47:16.873" v="6412" actId="113"/>
        <pc:sldMkLst>
          <pc:docMk/>
          <pc:sldMk cId="3000442177" sldId="278"/>
        </pc:sldMkLst>
        <pc:spChg chg="mod">
          <ac:chgData name="宁 高" userId="438cd512f268f2fd" providerId="LiveId" clId="{036A1363-F1ED-4ECD-9F7D-38E78BE630D3}" dt="2026-04-14T00:47:16.873" v="6412" actId="113"/>
          <ac:spMkLst>
            <pc:docMk/>
            <pc:sldMk cId="3000442177" sldId="278"/>
            <ac:spMk id="3" creationId="{36442977-06F2-2C82-3FDC-898073864160}"/>
          </ac:spMkLst>
        </pc:spChg>
      </pc:sldChg>
      <pc:sldChg chg="modSp add mod">
        <pc:chgData name="宁 高" userId="438cd512f268f2fd" providerId="LiveId" clId="{036A1363-F1ED-4ECD-9F7D-38E78BE630D3}" dt="2026-04-14T00:51:25.786" v="6831" actId="20577"/>
        <pc:sldMkLst>
          <pc:docMk/>
          <pc:sldMk cId="798137051" sldId="279"/>
        </pc:sldMkLst>
        <pc:spChg chg="mod">
          <ac:chgData name="宁 高" userId="438cd512f268f2fd" providerId="LiveId" clId="{036A1363-F1ED-4ECD-9F7D-38E78BE630D3}" dt="2026-04-14T00:49:01.267" v="6443" actId="20577"/>
          <ac:spMkLst>
            <pc:docMk/>
            <pc:sldMk cId="798137051" sldId="279"/>
            <ac:spMk id="2" creationId="{4698B660-B32F-641F-DC60-5E327E1E6AFE}"/>
          </ac:spMkLst>
        </pc:spChg>
        <pc:spChg chg="mod">
          <ac:chgData name="宁 高" userId="438cd512f268f2fd" providerId="LiveId" clId="{036A1363-F1ED-4ECD-9F7D-38E78BE630D3}" dt="2026-04-14T00:51:25.786" v="6831" actId="20577"/>
          <ac:spMkLst>
            <pc:docMk/>
            <pc:sldMk cId="798137051" sldId="279"/>
            <ac:spMk id="3" creationId="{C75E8DBD-43D9-A4B1-8021-746EDAD6881C}"/>
          </ac:spMkLst>
        </pc:spChg>
      </pc:sldChg>
      <pc:sldChg chg="addSp modSp add mod">
        <pc:chgData name="宁 高" userId="438cd512f268f2fd" providerId="LiveId" clId="{036A1363-F1ED-4ECD-9F7D-38E78BE630D3}" dt="2026-04-14T00:59:23.995" v="7599" actId="14100"/>
        <pc:sldMkLst>
          <pc:docMk/>
          <pc:sldMk cId="243102344" sldId="280"/>
        </pc:sldMkLst>
        <pc:spChg chg="mod">
          <ac:chgData name="宁 高" userId="438cd512f268f2fd" providerId="LiveId" clId="{036A1363-F1ED-4ECD-9F7D-38E78BE630D3}" dt="2026-04-14T00:51:47.087" v="6881" actId="20577"/>
          <ac:spMkLst>
            <pc:docMk/>
            <pc:sldMk cId="243102344" sldId="280"/>
            <ac:spMk id="2" creationId="{59CA7064-053A-EC9F-9D9F-7CBC2AC56EB1}"/>
          </ac:spMkLst>
        </pc:spChg>
        <pc:spChg chg="mod">
          <ac:chgData name="宁 高" userId="438cd512f268f2fd" providerId="LiveId" clId="{036A1363-F1ED-4ECD-9F7D-38E78BE630D3}" dt="2026-04-14T00:59:18.347" v="7597" actId="20577"/>
          <ac:spMkLst>
            <pc:docMk/>
            <pc:sldMk cId="243102344" sldId="280"/>
            <ac:spMk id="3" creationId="{FC48E7BC-BDED-0EBF-225E-A0BD43CB67D2}"/>
          </ac:spMkLst>
        </pc:spChg>
        <pc:picChg chg="add mod">
          <ac:chgData name="宁 高" userId="438cd512f268f2fd" providerId="LiveId" clId="{036A1363-F1ED-4ECD-9F7D-38E78BE630D3}" dt="2026-04-14T00:59:23.995" v="7599" actId="14100"/>
          <ac:picMkLst>
            <pc:docMk/>
            <pc:sldMk cId="243102344" sldId="280"/>
            <ac:picMk id="5" creationId="{CD3D567F-7E58-019B-B17A-3C13BB3AD285}"/>
          </ac:picMkLst>
        </pc:picChg>
      </pc:sldChg>
      <pc:sldChg chg="modSp add mod">
        <pc:chgData name="宁 高" userId="438cd512f268f2fd" providerId="LiveId" clId="{036A1363-F1ED-4ECD-9F7D-38E78BE630D3}" dt="2026-04-14T01:34:34.538" v="9964" actId="20577"/>
        <pc:sldMkLst>
          <pc:docMk/>
          <pc:sldMk cId="2252833140" sldId="281"/>
        </pc:sldMkLst>
        <pc:spChg chg="mod">
          <ac:chgData name="宁 高" userId="438cd512f268f2fd" providerId="LiveId" clId="{036A1363-F1ED-4ECD-9F7D-38E78BE630D3}" dt="2026-04-14T01:07:39.430" v="7772" actId="20577"/>
          <ac:spMkLst>
            <pc:docMk/>
            <pc:sldMk cId="2252833140" sldId="281"/>
            <ac:spMk id="2" creationId="{564F4569-D68F-0A65-2BF3-9103C0B94C87}"/>
          </ac:spMkLst>
        </pc:spChg>
        <pc:spChg chg="mod">
          <ac:chgData name="宁 高" userId="438cd512f268f2fd" providerId="LiveId" clId="{036A1363-F1ED-4ECD-9F7D-38E78BE630D3}" dt="2026-04-14T01:34:34.538" v="9964" actId="20577"/>
          <ac:spMkLst>
            <pc:docMk/>
            <pc:sldMk cId="2252833140" sldId="281"/>
            <ac:spMk id="3" creationId="{EEFA83D1-4506-BAD8-74BD-12297AE07086}"/>
          </ac:spMkLst>
        </pc:spChg>
      </pc:sldChg>
      <pc:sldChg chg="modSp add del mod">
        <pc:chgData name="宁 高" userId="438cd512f268f2fd" providerId="LiveId" clId="{036A1363-F1ED-4ECD-9F7D-38E78BE630D3}" dt="2026-04-14T01:34:51.034" v="9965" actId="47"/>
        <pc:sldMkLst>
          <pc:docMk/>
          <pc:sldMk cId="1721459790" sldId="282"/>
        </pc:sldMkLst>
        <pc:spChg chg="mod">
          <ac:chgData name="宁 高" userId="438cd512f268f2fd" providerId="LiveId" clId="{036A1363-F1ED-4ECD-9F7D-38E78BE630D3}" dt="2026-04-14T01:14:12.476" v="8409" actId="20577"/>
          <ac:spMkLst>
            <pc:docMk/>
            <pc:sldMk cId="1721459790" sldId="282"/>
            <ac:spMk id="2" creationId="{6BCE1D3D-C421-F0DB-1F36-520323D2DD1C}"/>
          </ac:spMkLst>
        </pc:spChg>
        <pc:spChg chg="mod">
          <ac:chgData name="宁 高" userId="438cd512f268f2fd" providerId="LiveId" clId="{036A1363-F1ED-4ECD-9F7D-38E78BE630D3}" dt="2026-04-14T01:15:21.919" v="8656" actId="20577"/>
          <ac:spMkLst>
            <pc:docMk/>
            <pc:sldMk cId="1721459790" sldId="282"/>
            <ac:spMk id="3" creationId="{1133ADFF-2156-9B9E-38AA-5D9BF6D2F6CE}"/>
          </ac:spMkLst>
        </pc:spChg>
      </pc:sldChg>
      <pc:sldChg chg="add">
        <pc:chgData name="宁 高" userId="438cd512f268f2fd" providerId="LiveId" clId="{036A1363-F1ED-4ECD-9F7D-38E78BE630D3}" dt="2026-04-14T01:18:41.148" v="8704"/>
        <pc:sldMkLst>
          <pc:docMk/>
          <pc:sldMk cId="830574173" sldId="283"/>
        </pc:sldMkLst>
      </pc:sldChg>
      <pc:sldChg chg="add">
        <pc:chgData name="宁 高" userId="438cd512f268f2fd" providerId="LiveId" clId="{036A1363-F1ED-4ECD-9F7D-38E78BE630D3}" dt="2026-04-14T01:27:25.945" v="9077"/>
        <pc:sldMkLst>
          <pc:docMk/>
          <pc:sldMk cId="2240579521" sldId="284"/>
        </pc:sldMkLst>
      </pc:sldChg>
      <pc:sldChg chg="modSp add mod">
        <pc:chgData name="宁 高" userId="438cd512f268f2fd" providerId="LiveId" clId="{036A1363-F1ED-4ECD-9F7D-38E78BE630D3}" dt="2026-04-14T01:31:39.692" v="9658" actId="20577"/>
        <pc:sldMkLst>
          <pc:docMk/>
          <pc:sldMk cId="2600713104" sldId="285"/>
        </pc:sldMkLst>
        <pc:spChg chg="mod">
          <ac:chgData name="宁 高" userId="438cd512f268f2fd" providerId="LiveId" clId="{036A1363-F1ED-4ECD-9F7D-38E78BE630D3}" dt="2026-04-14T01:27:53.839" v="9113" actId="20577"/>
          <ac:spMkLst>
            <pc:docMk/>
            <pc:sldMk cId="2600713104" sldId="285"/>
            <ac:spMk id="2" creationId="{00CD77CF-8949-4FEE-7B39-3677CFFF9E54}"/>
          </ac:spMkLst>
        </pc:spChg>
        <pc:spChg chg="mod">
          <ac:chgData name="宁 高" userId="438cd512f268f2fd" providerId="LiveId" clId="{036A1363-F1ED-4ECD-9F7D-38E78BE630D3}" dt="2026-04-14T01:31:39.692" v="9658" actId="20577"/>
          <ac:spMkLst>
            <pc:docMk/>
            <pc:sldMk cId="2600713104" sldId="285"/>
            <ac:spMk id="3" creationId="{B41DF5C6-4952-B1F1-1944-95937759752A}"/>
          </ac:spMkLst>
        </pc:spChg>
      </pc:sldChg>
      <pc:sldChg chg="modSp add mod">
        <pc:chgData name="宁 高" userId="438cd512f268f2fd" providerId="LiveId" clId="{036A1363-F1ED-4ECD-9F7D-38E78BE630D3}" dt="2026-04-14T01:32:11.519" v="9713" actId="20577"/>
        <pc:sldMkLst>
          <pc:docMk/>
          <pc:sldMk cId="67286658" sldId="286"/>
        </pc:sldMkLst>
        <pc:spChg chg="mod">
          <ac:chgData name="宁 高" userId="438cd512f268f2fd" providerId="LiveId" clId="{036A1363-F1ED-4ECD-9F7D-38E78BE630D3}" dt="2026-04-14T01:32:01.012" v="9676" actId="20577"/>
          <ac:spMkLst>
            <pc:docMk/>
            <pc:sldMk cId="67286658" sldId="286"/>
            <ac:spMk id="2" creationId="{9977A2B9-2138-2742-46B0-ABBA3FFF82D1}"/>
          </ac:spMkLst>
        </pc:spChg>
        <pc:spChg chg="mod">
          <ac:chgData name="宁 高" userId="438cd512f268f2fd" providerId="LiveId" clId="{036A1363-F1ED-4ECD-9F7D-38E78BE630D3}" dt="2026-04-14T01:32:11.519" v="9713" actId="20577"/>
          <ac:spMkLst>
            <pc:docMk/>
            <pc:sldMk cId="67286658" sldId="286"/>
            <ac:spMk id="3" creationId="{5B42FE61-34A6-8BBF-B84E-32BFDD254F7E}"/>
          </ac:spMkLst>
        </pc:spChg>
      </pc:sldChg>
      <pc:sldChg chg="modSp add mod">
        <pc:chgData name="宁 高" userId="438cd512f268f2fd" providerId="LiveId" clId="{036A1363-F1ED-4ECD-9F7D-38E78BE630D3}" dt="2026-04-14T01:34:00.688" v="9962" actId="20577"/>
        <pc:sldMkLst>
          <pc:docMk/>
          <pc:sldMk cId="288305209" sldId="287"/>
        </pc:sldMkLst>
        <pc:spChg chg="mod">
          <ac:chgData name="宁 高" userId="438cd512f268f2fd" providerId="LiveId" clId="{036A1363-F1ED-4ECD-9F7D-38E78BE630D3}" dt="2026-04-14T01:32:40.242" v="9726" actId="20577"/>
          <ac:spMkLst>
            <pc:docMk/>
            <pc:sldMk cId="288305209" sldId="287"/>
            <ac:spMk id="2" creationId="{C297F802-DA49-3080-AC09-7783E2937BFD}"/>
          </ac:spMkLst>
        </pc:spChg>
        <pc:spChg chg="mod">
          <ac:chgData name="宁 高" userId="438cd512f268f2fd" providerId="LiveId" clId="{036A1363-F1ED-4ECD-9F7D-38E78BE630D3}" dt="2026-04-14T01:34:00.688" v="9962" actId="20577"/>
          <ac:spMkLst>
            <pc:docMk/>
            <pc:sldMk cId="288305209" sldId="287"/>
            <ac:spMk id="3" creationId="{E5F095FB-7B20-C178-211F-68580B05E095}"/>
          </ac:spMkLst>
        </pc:spChg>
      </pc:sldChg>
      <pc:sldChg chg="modSp add mod">
        <pc:chgData name="宁 高" userId="438cd512f268f2fd" providerId="LiveId" clId="{036A1363-F1ED-4ECD-9F7D-38E78BE630D3}" dt="2026-04-14T01:37:57.301" v="10386" actId="20577"/>
        <pc:sldMkLst>
          <pc:docMk/>
          <pc:sldMk cId="521376016" sldId="288"/>
        </pc:sldMkLst>
        <pc:spChg chg="mod">
          <ac:chgData name="宁 高" userId="438cd512f268f2fd" providerId="LiveId" clId="{036A1363-F1ED-4ECD-9F7D-38E78BE630D3}" dt="2026-04-14T01:37:23.050" v="10206" actId="20577"/>
          <ac:spMkLst>
            <pc:docMk/>
            <pc:sldMk cId="521376016" sldId="288"/>
            <ac:spMk id="2" creationId="{176BC07D-2642-7729-AD60-353A237AB396}"/>
          </ac:spMkLst>
        </pc:spChg>
        <pc:spChg chg="mod">
          <ac:chgData name="宁 高" userId="438cd512f268f2fd" providerId="LiveId" clId="{036A1363-F1ED-4ECD-9F7D-38E78BE630D3}" dt="2026-04-14T01:37:57.301" v="10386" actId="20577"/>
          <ac:spMkLst>
            <pc:docMk/>
            <pc:sldMk cId="521376016" sldId="288"/>
            <ac:spMk id="3" creationId="{84D66A92-840D-1943-3113-7B16B2D0A55D}"/>
          </ac:spMkLst>
        </pc:spChg>
      </pc:sldChg>
      <pc:sldChg chg="add">
        <pc:chgData name="宁 高" userId="438cd512f268f2fd" providerId="LiveId" clId="{036A1363-F1ED-4ECD-9F7D-38E78BE630D3}" dt="2026-04-14T01:38:17.122" v="10387"/>
        <pc:sldMkLst>
          <pc:docMk/>
          <pc:sldMk cId="2678306763" sldId="289"/>
        </pc:sldMkLst>
      </pc:sldChg>
      <pc:sldChg chg="modSp add mod">
        <pc:chgData name="宁 高" userId="438cd512f268f2fd" providerId="LiveId" clId="{036A1363-F1ED-4ECD-9F7D-38E78BE630D3}" dt="2026-04-14T01:42:58.224" v="10787" actId="5793"/>
        <pc:sldMkLst>
          <pc:docMk/>
          <pc:sldMk cId="1691633586" sldId="290"/>
        </pc:sldMkLst>
        <pc:spChg chg="mod">
          <ac:chgData name="宁 高" userId="438cd512f268f2fd" providerId="LiveId" clId="{036A1363-F1ED-4ECD-9F7D-38E78BE630D3}" dt="2026-04-14T01:42:44.250" v="10742" actId="20577"/>
          <ac:spMkLst>
            <pc:docMk/>
            <pc:sldMk cId="1691633586" sldId="290"/>
            <ac:spMk id="2" creationId="{3EC03520-89A4-BAAB-E7C7-DBBAEB2A2E5F}"/>
          </ac:spMkLst>
        </pc:spChg>
        <pc:spChg chg="mod">
          <ac:chgData name="宁 高" userId="438cd512f268f2fd" providerId="LiveId" clId="{036A1363-F1ED-4ECD-9F7D-38E78BE630D3}" dt="2026-04-14T01:42:58.224" v="10787" actId="5793"/>
          <ac:spMkLst>
            <pc:docMk/>
            <pc:sldMk cId="1691633586" sldId="290"/>
            <ac:spMk id="3" creationId="{0F6CD6B8-E066-3067-D6A3-96C896050321}"/>
          </ac:spMkLst>
        </pc:spChg>
      </pc:sldChg>
      <pc:sldChg chg="modSp add mod">
        <pc:chgData name="宁 高" userId="438cd512f268f2fd" providerId="LiveId" clId="{036A1363-F1ED-4ECD-9F7D-38E78BE630D3}" dt="2026-04-14T01:44:53.019" v="11108" actId="20577"/>
        <pc:sldMkLst>
          <pc:docMk/>
          <pc:sldMk cId="712564759" sldId="291"/>
        </pc:sldMkLst>
        <pc:spChg chg="mod">
          <ac:chgData name="宁 高" userId="438cd512f268f2fd" providerId="LiveId" clId="{036A1363-F1ED-4ECD-9F7D-38E78BE630D3}" dt="2026-04-14T01:43:24.373" v="10874" actId="20577"/>
          <ac:spMkLst>
            <pc:docMk/>
            <pc:sldMk cId="712564759" sldId="291"/>
            <ac:spMk id="2" creationId="{450CC3AB-1DF1-135E-D214-DE39BA5892EE}"/>
          </ac:spMkLst>
        </pc:spChg>
        <pc:spChg chg="mod">
          <ac:chgData name="宁 高" userId="438cd512f268f2fd" providerId="LiveId" clId="{036A1363-F1ED-4ECD-9F7D-38E78BE630D3}" dt="2026-04-14T01:44:53.019" v="11108" actId="20577"/>
          <ac:spMkLst>
            <pc:docMk/>
            <pc:sldMk cId="712564759" sldId="291"/>
            <ac:spMk id="3" creationId="{E892208A-675F-4E78-3A71-941E19532D49}"/>
          </ac:spMkLst>
        </pc:spChg>
      </pc:sldChg>
      <pc:sldChg chg="modSp add mod">
        <pc:chgData name="宁 高" userId="438cd512f268f2fd" providerId="LiveId" clId="{036A1363-F1ED-4ECD-9F7D-38E78BE630D3}" dt="2026-04-15T01:44:14.296" v="11198" actId="20577"/>
        <pc:sldMkLst>
          <pc:docMk/>
          <pc:sldMk cId="763661032" sldId="292"/>
        </pc:sldMkLst>
        <pc:spChg chg="mod">
          <ac:chgData name="宁 高" userId="438cd512f268f2fd" providerId="LiveId" clId="{036A1363-F1ED-4ECD-9F7D-38E78BE630D3}" dt="2026-04-15T01:44:08.211" v="11197" actId="20577"/>
          <ac:spMkLst>
            <pc:docMk/>
            <pc:sldMk cId="763661032" sldId="292"/>
            <ac:spMk id="2" creationId="{85F84354-7BFC-9E3A-2D8A-CCE568B8FCE8}"/>
          </ac:spMkLst>
        </pc:spChg>
        <pc:spChg chg="mod">
          <ac:chgData name="宁 高" userId="438cd512f268f2fd" providerId="LiveId" clId="{036A1363-F1ED-4ECD-9F7D-38E78BE630D3}" dt="2026-04-15T01:44:14.296" v="11198" actId="20577"/>
          <ac:spMkLst>
            <pc:docMk/>
            <pc:sldMk cId="763661032" sldId="292"/>
            <ac:spMk id="3" creationId="{152E303C-6FBA-59CD-68F9-C1FF3C15709F}"/>
          </ac:spMkLst>
        </pc:spChg>
      </pc:sldChg>
      <pc:sldChg chg="add">
        <pc:chgData name="宁 高" userId="438cd512f268f2fd" providerId="LiveId" clId="{036A1363-F1ED-4ECD-9F7D-38E78BE630D3}" dt="2026-04-15T02:37:31.186" v="11199"/>
        <pc:sldMkLst>
          <pc:docMk/>
          <pc:sldMk cId="0" sldId="293"/>
        </pc:sldMkLst>
      </pc:sldChg>
      <pc:sldChg chg="modSp add mod">
        <pc:chgData name="宁 高" userId="438cd512f268f2fd" providerId="LiveId" clId="{036A1363-F1ED-4ECD-9F7D-38E78BE630D3}" dt="2026-04-15T02:37:50.042" v="11201" actId="207"/>
        <pc:sldMkLst>
          <pc:docMk/>
          <pc:sldMk cId="0" sldId="360"/>
        </pc:sldMkLst>
        <pc:spChg chg="mod">
          <ac:chgData name="宁 高" userId="438cd512f268f2fd" providerId="LiveId" clId="{036A1363-F1ED-4ECD-9F7D-38E78BE630D3}" dt="2026-04-15T02:37:50.042" v="11201" actId="207"/>
          <ac:spMkLst>
            <pc:docMk/>
            <pc:sldMk cId="0" sldId="360"/>
            <ac:spMk id="30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222084-5A14-44FF-A76F-EBC3E71A1716}" type="datetimeFigureOut">
              <a:rPr lang="zh-CN" altLang="en-US" smtClean="0"/>
              <a:t>2026/4/17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D52D0E-1207-40E5-85AD-0C6671AD1578}" type="slidenum">
              <a:rPr lang="zh-CN" altLang="en-US" smtClean="0"/>
              <a:t>‹#›</a:t>
            </a:fld>
            <a:endParaRPr lang="zh-CN" altLang="en-US"/>
          </a:p>
        </p:txBody>
      </p:sp>
    </p:spTree>
    <p:extLst>
      <p:ext uri="{BB962C8B-B14F-4D97-AF65-F5344CB8AC3E}">
        <p14:creationId xmlns:p14="http://schemas.microsoft.com/office/powerpoint/2010/main" val="3548543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D52D0E-1207-40E5-85AD-0C6671AD1578}" type="slidenum">
              <a:rPr lang="zh-CN" altLang="en-US" smtClean="0"/>
              <a:t>1</a:t>
            </a:fld>
            <a:endParaRPr lang="zh-CN" altLang="en-US"/>
          </a:p>
        </p:txBody>
      </p:sp>
    </p:spTree>
    <p:extLst>
      <p:ext uri="{BB962C8B-B14F-4D97-AF65-F5344CB8AC3E}">
        <p14:creationId xmlns:p14="http://schemas.microsoft.com/office/powerpoint/2010/main" val="3995154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53C60-F3D4-416B-8933-08EC893017B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38FCE9D-EC88-4940-A333-1E0D069622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B608AEC-1C91-4367-B2D7-0DBE1FD28316}"/>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B9607CE3-B231-4D16-AC7A-7092AEA826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955B958-FC0C-4EDF-9836-39BBF85E0FD9}"/>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3576470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FC6E49-167E-412E-A175-F5B5B5D76C6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82A06FA-5C8E-48F2-B7A9-BF31A567E32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C76415B-108E-4893-9869-BC53EE650B19}"/>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6BA19D85-0C0E-4DA0-9FCC-0BAA1D533D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7E205B-7DF2-4259-81C6-5D0DD4B0F6DB}"/>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1171733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45DC7-2BBF-4DC4-8DC2-63FED6EF624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371811B-65B3-46AB-AF88-540D49ED55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0BA01DE-6B55-4BC0-8820-525C3089E134}"/>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529BAB22-F1AA-4B77-A098-A9F4953B9A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235FA6-A70F-4DEC-BD5C-1607BCB0D856}"/>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1111557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5CC808-6648-40A5-A240-39832BCA58F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45965F-08FE-43C1-A6E3-45057DA3B38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C5919F0-BA1E-440B-8E82-B6BB61DFB93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762BDC4-ACAC-4079-BE7F-3076512188BE}"/>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6" name="页脚占位符 5">
            <a:extLst>
              <a:ext uri="{FF2B5EF4-FFF2-40B4-BE49-F238E27FC236}">
                <a16:creationId xmlns:a16="http://schemas.microsoft.com/office/drawing/2014/main" id="{D5E63B9C-8501-47AA-B4B2-D71608540FB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B84ED74-3A7C-450D-8D83-FBD3F6C32C5E}"/>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97631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A88839-F3F6-4A5C-91CD-00D193FC5D6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C1F3ACE-13B0-4228-B991-4559B9547A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C336457-496D-498B-8C70-B504016D7AE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BAB5130-0FF8-46EE-9B35-24866B282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7FC3B8A-3DD7-4509-893A-E02DF70B0F1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ADC4801-67CC-4D81-AC01-508C76A75A67}"/>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8" name="页脚占位符 7">
            <a:extLst>
              <a:ext uri="{FF2B5EF4-FFF2-40B4-BE49-F238E27FC236}">
                <a16:creationId xmlns:a16="http://schemas.microsoft.com/office/drawing/2014/main" id="{EFF85353-0D03-427C-BA9F-12C1C8DCD38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3EA9834-041C-482C-8945-99BA793E440E}"/>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2553890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837CB-E7D0-4A35-982D-C19EAE3E3E3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3DF7B69-3C66-4B07-8274-7284095B1182}"/>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4" name="页脚占位符 3">
            <a:extLst>
              <a:ext uri="{FF2B5EF4-FFF2-40B4-BE49-F238E27FC236}">
                <a16:creationId xmlns:a16="http://schemas.microsoft.com/office/drawing/2014/main" id="{9F96D9C3-DEE5-460B-B03A-1F7DD4FAB27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F3765CA-CA57-4BFB-B530-F375745C7EF0}"/>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2121779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37F4880-E3CA-4BA9-81C2-41391E2C048C}"/>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3" name="页脚占位符 2">
            <a:extLst>
              <a:ext uri="{FF2B5EF4-FFF2-40B4-BE49-F238E27FC236}">
                <a16:creationId xmlns:a16="http://schemas.microsoft.com/office/drawing/2014/main" id="{051B6297-3004-49EF-A9D1-F80B84E4B88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4A4F5DD-ABC8-4D2B-A031-6B6FD45FB649}"/>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74855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8DD16C-F5D2-412D-ADE5-D943CA020B7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4287127-8B8A-436D-AC8E-93C17EA518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C26B750-D3B4-4880-98B8-BB390FA5D0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8C8A6D9-E504-4366-BCCC-90BAF97B9353}"/>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6" name="页脚占位符 5">
            <a:extLst>
              <a:ext uri="{FF2B5EF4-FFF2-40B4-BE49-F238E27FC236}">
                <a16:creationId xmlns:a16="http://schemas.microsoft.com/office/drawing/2014/main" id="{5D3C7030-14C9-471A-81F9-3D23ED892D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CED3BA-9426-40C7-9CE5-220A07E94584}"/>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93611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9AC6F5-36A8-4FC9-8692-4C193362531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5BE9507-1EC4-4B1A-A349-18210B9641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CC66F7C-0EA8-49BE-AF34-73EF8BC9A3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E5A712D-F1E3-4E2A-BC5A-FCAE6486162E}"/>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6" name="页脚占位符 5">
            <a:extLst>
              <a:ext uri="{FF2B5EF4-FFF2-40B4-BE49-F238E27FC236}">
                <a16:creationId xmlns:a16="http://schemas.microsoft.com/office/drawing/2014/main" id="{570CC4E2-484D-47BB-95AF-AA4198AF3B6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82A244A-6591-4440-ACB5-AB8D394C5514}"/>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246780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7A1373-7D5F-4E3E-BE23-F3301E1628F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32855BF-F89F-471B-8000-A7B336A8263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F0A86AA-636F-4C1F-86AC-45E364A96E7B}"/>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1DD7AAB4-321B-474D-9D44-D64488A16D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9BAC5D-C4C1-4FEE-8F46-C0D6A432137A}"/>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2105004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E75802E-0E18-46AF-9E0C-D601D79985E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EA28514-B7D6-4F16-A2FE-DCF59BB921C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7AFBA33-9A4F-43DC-85CD-310DFAE96D01}"/>
              </a:ext>
            </a:extLst>
          </p:cNvPr>
          <p:cNvSpPr>
            <a:spLocks noGrp="1"/>
          </p:cNvSpPr>
          <p:nvPr>
            <p:ph type="dt" sz="half" idx="10"/>
          </p:nvPr>
        </p:nvSpPr>
        <p:spPr/>
        <p:txBody>
          <a:bodyPr/>
          <a:lstStyle/>
          <a:p>
            <a:fld id="{9AEAE18D-2F14-46BF-8FA8-49A70AA61218}"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5224266B-274C-4E3D-ACCF-40251C16B7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C318F63-B8F3-4BA1-8EE4-C4DC426619B4}"/>
              </a:ext>
            </a:extLst>
          </p:cNvPr>
          <p:cNvSpPr>
            <a:spLocks noGrp="1"/>
          </p:cNvSpPr>
          <p:nvPr>
            <p:ph type="sldNum" sz="quarter" idx="12"/>
          </p:nvPr>
        </p:nvSpPr>
        <p:spPr/>
        <p:txBody>
          <a:body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136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510C2D-D287-4B6B-A852-9AB8EC82EC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C5C1409-287F-4DA4-9E85-6397D6E6BD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C2DB751-7B54-4BD4-A90A-0F406D12C0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EAE18D-2F14-46BF-8FA8-49A70AA61218}"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AD9CD688-0FC2-49BC-804F-DD7CB94867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EE12DC9-0E37-4AF5-B31E-4AA0AA062E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BA559F-6771-4DD0-802D-9EBF81FDE009}" type="slidenum">
              <a:rPr lang="zh-CN" altLang="en-US" smtClean="0"/>
              <a:t>‹#›</a:t>
            </a:fld>
            <a:endParaRPr lang="zh-CN" altLang="en-US"/>
          </a:p>
        </p:txBody>
      </p:sp>
    </p:spTree>
    <p:extLst>
      <p:ext uri="{BB962C8B-B14F-4D97-AF65-F5344CB8AC3E}">
        <p14:creationId xmlns:p14="http://schemas.microsoft.com/office/powerpoint/2010/main" val="3349073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381488-50D2-4E93-92C9-2A5CE1F62106}"/>
              </a:ext>
            </a:extLst>
          </p:cNvPr>
          <p:cNvSpPr>
            <a:spLocks noGrp="1"/>
          </p:cNvSpPr>
          <p:nvPr>
            <p:ph type="ctrTitle"/>
          </p:nvPr>
        </p:nvSpPr>
        <p:spPr>
          <a:xfrm>
            <a:off x="1334277" y="1122363"/>
            <a:ext cx="9523445" cy="2387600"/>
          </a:xfrm>
        </p:spPr>
        <p:txBody>
          <a:bodyPr/>
          <a:lstStyle/>
          <a:p>
            <a:r>
              <a:rPr lang="en-US" altLang="zh-CN" dirty="0">
                <a:latin typeface="华文楷体" panose="02010600040101010101" pitchFamily="2" charset="-122"/>
                <a:ea typeface="华文楷体" panose="02010600040101010101" pitchFamily="2" charset="-122"/>
              </a:rPr>
              <a:t>Zero-to-Hero </a:t>
            </a:r>
            <a:r>
              <a:rPr lang="zh-CN" altLang="en-US" dirty="0">
                <a:latin typeface="华文楷体" panose="02010600040101010101" pitchFamily="2" charset="-122"/>
                <a:ea typeface="华文楷体" panose="02010600040101010101" pitchFamily="2" charset="-122"/>
              </a:rPr>
              <a:t>成为科研高手</a:t>
            </a:r>
          </a:p>
        </p:txBody>
      </p:sp>
      <p:sp>
        <p:nvSpPr>
          <p:cNvPr id="3" name="副标题 2">
            <a:extLst>
              <a:ext uri="{FF2B5EF4-FFF2-40B4-BE49-F238E27FC236}">
                <a16:creationId xmlns:a16="http://schemas.microsoft.com/office/drawing/2014/main" id="{60C93A46-D374-4F53-AEB2-A1F16DA24D89}"/>
              </a:ext>
            </a:extLst>
          </p:cNvPr>
          <p:cNvSpPr>
            <a:spLocks noGrp="1"/>
          </p:cNvSpPr>
          <p:nvPr>
            <p:ph type="subTitle" idx="1"/>
          </p:nvPr>
        </p:nvSpPr>
        <p:spPr/>
        <p:txBody>
          <a:bodyPr/>
          <a:lstStyle/>
          <a:p>
            <a:r>
              <a:rPr lang="zh-CN" altLang="en-US" dirty="0">
                <a:latin typeface="华文楷体" panose="02010600040101010101" pitchFamily="2" charset="-122"/>
                <a:ea typeface="华文楷体" panose="02010600040101010101" pitchFamily="2" charset="-122"/>
              </a:rPr>
              <a:t>人工智能 </a:t>
            </a:r>
            <a:r>
              <a:rPr lang="en-US" altLang="zh-CN" dirty="0">
                <a:latin typeface="华文楷体" panose="02010600040101010101" pitchFamily="2" charset="-122"/>
                <a:ea typeface="华文楷体" panose="02010600040101010101" pitchFamily="2" charset="-122"/>
              </a:rPr>
              <a:t>2202 </a:t>
            </a:r>
            <a:r>
              <a:rPr lang="zh-CN" altLang="en-US" dirty="0">
                <a:latin typeface="华文楷体" panose="02010600040101010101" pitchFamily="2" charset="-122"/>
                <a:ea typeface="华文楷体" panose="02010600040101010101" pitchFamily="2" charset="-122"/>
              </a:rPr>
              <a:t>高宁</a:t>
            </a:r>
          </a:p>
        </p:txBody>
      </p:sp>
    </p:spTree>
    <p:extLst>
      <p:ext uri="{BB962C8B-B14F-4D97-AF65-F5344CB8AC3E}">
        <p14:creationId xmlns:p14="http://schemas.microsoft.com/office/powerpoint/2010/main" val="2042777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F24AF-A414-732B-0884-81941FC1CC8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C4B02F-0F36-6C94-A13B-0188A4355550}"/>
              </a:ext>
            </a:extLst>
          </p:cNvPr>
          <p:cNvSpPr>
            <a:spLocks noGrp="1"/>
          </p:cNvSpPr>
          <p:nvPr>
            <p:ph type="title"/>
          </p:nvPr>
        </p:nvSpPr>
        <p:spPr/>
        <p:txBody>
          <a:bodyPr/>
          <a:lstStyle/>
          <a:p>
            <a:r>
              <a:rPr lang="zh-CN" altLang="en-US">
                <a:latin typeface="华文楷体" panose="02010600040101010101" pitchFamily="2" charset="-122"/>
                <a:ea typeface="华文楷体" panose="02010600040101010101" pitchFamily="2" charset="-122"/>
              </a:rPr>
              <a:t>上一次分享的 </a:t>
            </a:r>
            <a:r>
              <a:rPr lang="en-US" altLang="zh-CN">
                <a:latin typeface="华文楷体" panose="02010600040101010101" pitchFamily="2" charset="-122"/>
                <a:ea typeface="华文楷体" panose="02010600040101010101" pitchFamily="2" charset="-122"/>
              </a:rPr>
              <a:t>Table of Content</a:t>
            </a:r>
            <a:endParaRPr lang="zh-CN" altLang="en-US">
              <a:latin typeface="华文楷体" panose="02010600040101010101" pitchFamily="2" charset="-122"/>
              <a:ea typeface="华文楷体" panose="02010600040101010101" pitchFamily="2" charset="-122"/>
            </a:endParaRPr>
          </a:p>
        </p:txBody>
      </p:sp>
      <p:sp>
        <p:nvSpPr>
          <p:cNvPr id="3" name="内容占位符 2">
            <a:extLst>
              <a:ext uri="{FF2B5EF4-FFF2-40B4-BE49-F238E27FC236}">
                <a16:creationId xmlns:a16="http://schemas.microsoft.com/office/drawing/2014/main" id="{997322E8-D3AC-A649-3CED-4FA6E333FF9D}"/>
              </a:ext>
            </a:extLst>
          </p:cNvPr>
          <p:cNvSpPr>
            <a:spLocks noGrp="1"/>
          </p:cNvSpPr>
          <p:nvPr>
            <p:ph idx="1"/>
          </p:nvPr>
        </p:nvSpPr>
        <p:spPr/>
        <p:txBody>
          <a:bodyPr/>
          <a:lstStyle/>
          <a:p>
            <a:r>
              <a:rPr lang="en-US" altLang="zh-CN" dirty="0">
                <a:latin typeface="华文楷体" panose="02010600040101010101" pitchFamily="2" charset="-122"/>
                <a:ea typeface="华文楷体" panose="02010600040101010101" pitchFamily="2" charset="-122"/>
              </a:rPr>
              <a:t>Slide Link: https://axi404.top/blog/ppt-sharing</a:t>
            </a:r>
          </a:p>
          <a:p>
            <a:r>
              <a:rPr lang="zh-CN" altLang="en-US" dirty="0">
                <a:latin typeface="华文楷体" panose="02010600040101010101" pitchFamily="2" charset="-122"/>
                <a:ea typeface="华文楷体" panose="02010600040101010101" pitchFamily="2" charset="-122"/>
              </a:rPr>
              <a:t>保研相关</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保研形势</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保研流程</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一些建议等</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科研</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长期发展相关</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学什么，如何学</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科研节奏</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一些建议等</a:t>
            </a:r>
            <a:endParaRPr lang="en-US" altLang="zh-CN" dirty="0">
              <a:latin typeface="华文楷体" panose="02010600040101010101" pitchFamily="2" charset="-122"/>
              <a:ea typeface="华文楷体" panose="02010600040101010101" pitchFamily="2" charset="-122"/>
            </a:endParaRPr>
          </a:p>
          <a:p>
            <a:pPr lvl="1"/>
            <a:endParaRPr lang="en-US" altLang="zh-CN" dirty="0">
              <a:latin typeface="华文楷体" panose="02010600040101010101" pitchFamily="2" charset="-122"/>
              <a:ea typeface="华文楷体" panose="02010600040101010101" pitchFamily="2" charset="-122"/>
            </a:endParaRPr>
          </a:p>
          <a:p>
            <a:pPr marL="457200" lvl="1" indent="0">
              <a:buNone/>
            </a:pP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130619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20A303-F9F9-4391-BD63-129848904B7F}"/>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相较上一次</a:t>
            </a:r>
          </a:p>
        </p:txBody>
      </p:sp>
      <p:sp>
        <p:nvSpPr>
          <p:cNvPr id="3" name="内容占位符 2">
            <a:extLst>
              <a:ext uri="{FF2B5EF4-FFF2-40B4-BE49-F238E27FC236}">
                <a16:creationId xmlns:a16="http://schemas.microsoft.com/office/drawing/2014/main" id="{6F93E69D-F69B-4487-ABD1-C0898C256E60}"/>
              </a:ext>
            </a:extLst>
          </p:cNvPr>
          <p:cNvSpPr>
            <a:spLocks noGrp="1"/>
          </p:cNvSpPr>
          <p:nvPr>
            <p:ph idx="1"/>
          </p:nvPr>
        </p:nvSpPr>
        <p:spPr/>
        <p:txBody>
          <a:bodyPr>
            <a:normAutofit/>
          </a:bodyPr>
          <a:lstStyle/>
          <a:p>
            <a:r>
              <a:rPr lang="zh-CN" altLang="en-US" dirty="0">
                <a:latin typeface="华文楷体" panose="02010600040101010101" pitchFamily="2" charset="-122"/>
                <a:ea typeface="华文楷体" panose="02010600040101010101" pitchFamily="2" charset="-122"/>
              </a:rPr>
              <a:t>大家</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已经经历一个学期的大学的洗礼</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是否已经学完了 </a:t>
            </a:r>
            <a:r>
              <a:rPr lang="en-US" altLang="zh-CN" dirty="0">
                <a:latin typeface="华文楷体" panose="02010600040101010101" pitchFamily="2" charset="-122"/>
                <a:ea typeface="华文楷体" panose="02010600040101010101" pitchFamily="2" charset="-122"/>
              </a:rPr>
              <a:t>Linux </a:t>
            </a:r>
            <a:r>
              <a:rPr lang="zh-CN" altLang="en-US" dirty="0">
                <a:latin typeface="华文楷体" panose="02010600040101010101" pitchFamily="2" charset="-122"/>
                <a:ea typeface="华文楷体" panose="02010600040101010101" pitchFamily="2" charset="-122"/>
              </a:rPr>
              <a:t>等计算机基础？</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是否看完了 </a:t>
            </a:r>
            <a:r>
              <a:rPr lang="en-US" altLang="zh-CN" dirty="0">
                <a:latin typeface="华文楷体" panose="02010600040101010101" pitchFamily="2" charset="-122"/>
                <a:ea typeface="华文楷体" panose="02010600040101010101" pitchFamily="2" charset="-122"/>
              </a:rPr>
              <a:t>CS231n</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是否已经进组了？</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是否发完了第一篇论文？</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对于能力的认知</a:t>
            </a:r>
            <a:endParaRPr lang="en-US" altLang="zh-CN" dirty="0">
              <a:latin typeface="华文楷体" panose="02010600040101010101" pitchFamily="2" charset="-122"/>
              <a:ea typeface="华文楷体" panose="02010600040101010101" pitchFamily="2" charset="-122"/>
            </a:endParaRPr>
          </a:p>
          <a:p>
            <a:pPr lvl="1"/>
            <a:r>
              <a:rPr lang="zh-CN" altLang="en-US">
                <a:latin typeface="华文楷体" panose="02010600040101010101" pitchFamily="2" charset="-122"/>
                <a:ea typeface="华文楷体" panose="02010600040101010101" pitchFamily="2" charset="-122"/>
              </a:rPr>
              <a:t>学习能力、自控能力、天赋？</a:t>
            </a:r>
            <a:endParaRPr lang="en-US" altLang="zh-CN">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我</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被社会拷打了</a:t>
            </a:r>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32566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1297A-85B7-D7C7-ED43-EEAF894F0F0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B2FE81-D969-942E-AB29-F64E6214879B}"/>
              </a:ext>
            </a:extLst>
          </p:cNvPr>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免责声明</a:t>
            </a:r>
          </a:p>
        </p:txBody>
      </p:sp>
      <p:sp>
        <p:nvSpPr>
          <p:cNvPr id="3" name="内容占位符 2">
            <a:extLst>
              <a:ext uri="{FF2B5EF4-FFF2-40B4-BE49-F238E27FC236}">
                <a16:creationId xmlns:a16="http://schemas.microsoft.com/office/drawing/2014/main" id="{248DD07A-79F6-AC0A-41F9-9764A42A8110}"/>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本次分享全部内容建立在：</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有志于从事 </a:t>
            </a:r>
            <a:r>
              <a:rPr lang="en-US" altLang="zh-CN" dirty="0">
                <a:latin typeface="华文楷体" panose="02010600040101010101" pitchFamily="2" charset="-122"/>
                <a:ea typeface="华文楷体" panose="02010600040101010101" pitchFamily="2" charset="-122"/>
              </a:rPr>
              <a:t>AI </a:t>
            </a:r>
            <a:r>
              <a:rPr lang="zh-CN" altLang="en-US" dirty="0">
                <a:latin typeface="华文楷体" panose="02010600040101010101" pitchFamily="2" charset="-122"/>
                <a:ea typeface="华文楷体" panose="02010600040101010101" pitchFamily="2" charset="-122"/>
              </a:rPr>
              <a:t>相关研究（而非如体系结构、安全、</a:t>
            </a:r>
            <a:r>
              <a:rPr lang="en-US" altLang="zh-CN" dirty="0">
                <a:latin typeface="华文楷体" panose="02010600040101010101" pitchFamily="2" charset="-122"/>
                <a:ea typeface="华文楷体" panose="02010600040101010101" pitchFamily="2" charset="-122"/>
              </a:rPr>
              <a:t>TCS </a:t>
            </a:r>
            <a:r>
              <a:rPr lang="zh-CN" altLang="en-US" dirty="0">
                <a:latin typeface="华文楷体" panose="02010600040101010101" pitchFamily="2" charset="-122"/>
                <a:ea typeface="华文楷体" panose="02010600040101010101" pitchFamily="2" charset="-122"/>
              </a:rPr>
              <a:t>等其他方向）</a:t>
            </a:r>
            <a:r>
              <a:rPr lang="en-US" altLang="zh-CN" dirty="0">
                <a:latin typeface="华文楷体" panose="02010600040101010101" pitchFamily="2" charset="-122"/>
                <a:ea typeface="华文楷体" panose="02010600040101010101" pitchFamily="2" charset="-122"/>
              </a:rPr>
              <a:t> </a:t>
            </a:r>
          </a:p>
          <a:p>
            <a:pPr lvl="1"/>
            <a:r>
              <a:rPr lang="zh-CN" altLang="en-US" dirty="0">
                <a:latin typeface="华文楷体" panose="02010600040101010101" pitchFamily="2" charset="-122"/>
                <a:ea typeface="华文楷体" panose="02010600040101010101" pitchFamily="2" charset="-122"/>
              </a:rPr>
              <a:t>对于没有任何方向去向偏好的情境下</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从完全功利视角出发，即，量化标准为，按照相关方式训练之后获得薪资的期望</a:t>
            </a:r>
            <a:endParaRPr lang="en-US" altLang="zh-CN" dirty="0">
              <a:latin typeface="华文楷体" panose="02010600040101010101" pitchFamily="2" charset="-122"/>
              <a:ea typeface="华文楷体" panose="02010600040101010101" pitchFamily="2" charset="-122"/>
            </a:endParaRPr>
          </a:p>
          <a:p>
            <a:pPr lvl="1"/>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678306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16612A-CF7A-4FFD-9076-CED116E077C5}"/>
              </a:ext>
            </a:extLst>
          </p:cNvPr>
          <p:cNvSpPr>
            <a:spLocks noGrp="1"/>
          </p:cNvSpPr>
          <p:nvPr>
            <p:ph type="title"/>
          </p:nvPr>
        </p:nvSpPr>
        <p:spPr>
          <a:xfrm>
            <a:off x="838200" y="-152400"/>
            <a:ext cx="10515600" cy="1361633"/>
          </a:xfrm>
        </p:spPr>
        <p:txBody>
          <a:bodyPr/>
          <a:lstStyle/>
          <a:p>
            <a:r>
              <a:rPr lang="en-US" altLang="zh-CN">
                <a:latin typeface="Century Gothic" panose="020B0502020202020204" pitchFamily="34" charset="0"/>
              </a:rPr>
              <a:t>About Me</a:t>
            </a:r>
            <a:endParaRPr lang="zh-CN" altLang="en-US">
              <a:latin typeface="Century Gothic" panose="020B0502020202020204" pitchFamily="34" charset="0"/>
            </a:endParaRPr>
          </a:p>
        </p:txBody>
      </p:sp>
      <p:sp>
        <p:nvSpPr>
          <p:cNvPr id="3" name="内容占位符 2">
            <a:extLst>
              <a:ext uri="{FF2B5EF4-FFF2-40B4-BE49-F238E27FC236}">
                <a16:creationId xmlns:a16="http://schemas.microsoft.com/office/drawing/2014/main" id="{724EEB07-F27E-47AD-A30F-B4FAFF92E6EA}"/>
              </a:ext>
            </a:extLst>
          </p:cNvPr>
          <p:cNvSpPr>
            <a:spLocks noGrp="1"/>
          </p:cNvSpPr>
          <p:nvPr>
            <p:ph idx="1"/>
          </p:nvPr>
        </p:nvSpPr>
        <p:spPr>
          <a:xfrm>
            <a:off x="838199" y="887561"/>
            <a:ext cx="10794357" cy="6091972"/>
          </a:xfrm>
        </p:spPr>
        <p:txBody>
          <a:bodyPr>
            <a:normAutofit lnSpcReduction="10000"/>
          </a:bodyPr>
          <a:lstStyle/>
          <a:p>
            <a:r>
              <a:rPr lang="zh-CN" altLang="en-US" sz="1500">
                <a:latin typeface="华文楷体" panose="02010600040101010101" pitchFamily="2" charset="-122"/>
                <a:ea typeface="华文楷体" panose="02010600040101010101" pitchFamily="2" charset="-122"/>
              </a:rPr>
              <a:t>人工智能 </a:t>
            </a:r>
            <a:r>
              <a:rPr lang="en-US" altLang="zh-CN" sz="1500">
                <a:latin typeface="Century Gothic" panose="020B0502020202020204" pitchFamily="34" charset="0"/>
              </a:rPr>
              <a:t>2202</a:t>
            </a:r>
          </a:p>
          <a:p>
            <a:r>
              <a:rPr lang="zh-CN" altLang="en-US" sz="1500">
                <a:latin typeface="华文楷体" panose="02010600040101010101" pitchFamily="2" charset="-122"/>
                <a:ea typeface="华文楷体" panose="02010600040101010101" pitchFamily="2" charset="-122"/>
              </a:rPr>
              <a:t>综合排名 </a:t>
            </a:r>
            <a:r>
              <a:rPr lang="en-US" altLang="zh-CN" sz="1500">
                <a:latin typeface="Century Gothic" panose="020B0502020202020204" pitchFamily="34" charset="0"/>
              </a:rPr>
              <a:t>4/62</a:t>
            </a:r>
          </a:p>
          <a:p>
            <a:r>
              <a:rPr lang="zh-CN" altLang="en-US" sz="1500">
                <a:latin typeface="华文楷体" panose="02010600040101010101" pitchFamily="2" charset="-122"/>
                <a:ea typeface="华文楷体" panose="02010600040101010101" pitchFamily="2" charset="-122"/>
              </a:rPr>
              <a:t>论文发表</a:t>
            </a:r>
            <a:endParaRPr lang="en-US" altLang="zh-CN" sz="900">
              <a:latin typeface="Century Gothic" panose="020B0502020202020204" pitchFamily="34" charset="0"/>
            </a:endParaRPr>
          </a:p>
          <a:p>
            <a:pPr marL="457200" lvl="1" indent="0">
              <a:buNone/>
            </a:pPr>
            <a:r>
              <a:rPr lang="en-US" altLang="zh-CN" sz="800" b="1">
                <a:latin typeface="Century Gothic" panose="020B0502020202020204" pitchFamily="34" charset="0"/>
              </a:rPr>
              <a:t>StarVLA: </a:t>
            </a:r>
            <a:r>
              <a:rPr lang="en-US" altLang="zh-CN" sz="800">
                <a:latin typeface="Century Gothic" panose="020B0502020202020204" pitchFamily="34" charset="0"/>
              </a:rPr>
              <a:t>A Lego-like Codebase for Vision-Language-Action Model Developing</a:t>
            </a:r>
          </a:p>
          <a:p>
            <a:pPr marL="457200" lvl="1" indent="0">
              <a:buNone/>
            </a:pPr>
            <a:r>
              <a:rPr lang="en-US" altLang="zh-CN" sz="800" b="1">
                <a:latin typeface="Century Gothic" panose="020B0502020202020204" pitchFamily="34" charset="0"/>
              </a:rPr>
              <a:t>Tech Report, </a:t>
            </a:r>
            <a:r>
              <a:rPr lang="en-US" altLang="zh-CN" sz="800">
                <a:latin typeface="Century Gothic" panose="020B0502020202020204" pitchFamily="34" charset="0"/>
              </a:rPr>
              <a:t>StarVLA Community</a:t>
            </a:r>
          </a:p>
          <a:p>
            <a:pPr marL="457200" lvl="1" indent="0">
              <a:buNone/>
            </a:pPr>
            <a:r>
              <a:rPr lang="en-US" altLang="zh-CN" sz="800" b="1">
                <a:latin typeface="Century Gothic" panose="020B0502020202020204" pitchFamily="34" charset="0"/>
              </a:rPr>
              <a:t>Nimbus:</a:t>
            </a:r>
            <a:r>
              <a:rPr lang="en-US" altLang="zh-CN" sz="800">
                <a:latin typeface="Century Gothic" panose="020B0502020202020204" pitchFamily="34" charset="0"/>
              </a:rPr>
              <a:t> A Unified Embodied Synthetic Data Generation Framework</a:t>
            </a:r>
          </a:p>
          <a:p>
            <a:pPr marL="457200" lvl="1" indent="0">
              <a:buNone/>
            </a:pPr>
            <a:r>
              <a:rPr lang="en-US" altLang="zh-CN" sz="800" b="1">
                <a:latin typeface="Century Gothic" panose="020B0502020202020204" pitchFamily="34" charset="0"/>
              </a:rPr>
              <a:t>Tech Report,</a:t>
            </a:r>
            <a:r>
              <a:rPr lang="en-US" altLang="zh-CN" sz="800">
                <a:latin typeface="Century Gothic" panose="020B0502020202020204" pitchFamily="34" charset="0"/>
              </a:rPr>
              <a:t> Zeyu He, Yuchang Zhang, Yuanzhen Zhou, Miao Tao, Hengjie Li, Hui Wang, Yang Tian, Jia Zeng, Tai Wang, Wenzhe Cai, Yilun Chen, </a:t>
            </a:r>
            <a:r>
              <a:rPr lang="en-US" altLang="zh-CN" sz="800" b="1">
                <a:latin typeface="Century Gothic" panose="020B0502020202020204" pitchFamily="34" charset="0"/>
              </a:rPr>
              <a:t>Ning Gao</a:t>
            </a:r>
            <a:r>
              <a:rPr lang="en-US" altLang="zh-CN" sz="800">
                <a:latin typeface="Century Gothic" panose="020B0502020202020204" pitchFamily="34" charset="0"/>
              </a:rPr>
              <a:t>, Jiangmiao Pang</a:t>
            </a:r>
          </a:p>
          <a:p>
            <a:pPr marL="457200" lvl="1" indent="0">
              <a:buNone/>
            </a:pPr>
            <a:r>
              <a:rPr lang="en-US" altLang="zh-CN" sz="800" b="1">
                <a:latin typeface="Century Gothic" panose="020B0502020202020204" pitchFamily="34" charset="0"/>
              </a:rPr>
              <a:t>SynthVerse: </a:t>
            </a:r>
            <a:r>
              <a:rPr lang="en-US" altLang="zh-CN" sz="800">
                <a:latin typeface="Century Gothic" panose="020B0502020202020204" pitchFamily="34" charset="0"/>
              </a:rPr>
              <a:t>A Large-Scale Diverse Synthetic Dataset for Point Tracking</a:t>
            </a:r>
          </a:p>
          <a:p>
            <a:pPr marL="457200" lvl="1" indent="0">
              <a:buNone/>
            </a:pPr>
            <a:r>
              <a:rPr lang="en-US" altLang="zh-CN" sz="800" b="1">
                <a:latin typeface="Century Gothic" panose="020B0502020202020204" pitchFamily="34" charset="0"/>
              </a:rPr>
              <a:t>SIGGRAPH 2026, </a:t>
            </a:r>
            <a:r>
              <a:rPr lang="en-US" altLang="zh-CN" sz="800">
                <a:latin typeface="Century Gothic" panose="020B0502020202020204" pitchFamily="34" charset="0"/>
              </a:rPr>
              <a:t>Weiguang Zhao, Haoran Xu, Xingyu Miao, Qin Zhao, Rui Zhang, Kaizhu Huang, </a:t>
            </a:r>
            <a:r>
              <a:rPr lang="en-US" altLang="zh-CN" sz="800" b="1">
                <a:latin typeface="Century Gothic" panose="020B0502020202020204" pitchFamily="34" charset="0"/>
              </a:rPr>
              <a:t>Ning Gao</a:t>
            </a:r>
            <a:r>
              <a:rPr lang="en-US" altLang="zh-CN" sz="800">
                <a:latin typeface="Century Gothic" panose="020B0502020202020204" pitchFamily="34" charset="0"/>
              </a:rPr>
              <a:t>, Peizhou Cao, Mingze Sun, Mulin Yu, Tao Lu, Linning Xu, Junting Dong, Jiangmiao Pang</a:t>
            </a:r>
          </a:p>
          <a:p>
            <a:pPr marL="457200" lvl="1" indent="0">
              <a:buNone/>
            </a:pPr>
            <a:r>
              <a:rPr lang="en-US" altLang="zh-CN" sz="800" b="1">
                <a:latin typeface="Century Gothic" panose="020B0502020202020204" pitchFamily="34" charset="0"/>
              </a:rPr>
              <a:t>InternData-A1</a:t>
            </a:r>
            <a:r>
              <a:rPr lang="en-US" altLang="zh-CN" sz="800">
                <a:latin typeface="Century Gothic" panose="020B0502020202020204" pitchFamily="34" charset="0"/>
              </a:rPr>
              <a:t>: Pioneering High-Fidelity Synthetic Data for Pre-training Generalist Policy</a:t>
            </a:r>
          </a:p>
          <a:p>
            <a:pPr marL="457200" lvl="1" indent="0">
              <a:buNone/>
            </a:pPr>
            <a:r>
              <a:rPr lang="en-US" altLang="zh-CN" sz="800" b="1">
                <a:latin typeface="Century Gothic" panose="020B0502020202020204" pitchFamily="34" charset="0"/>
              </a:rPr>
              <a:t>CVPR 2026, </a:t>
            </a:r>
            <a:r>
              <a:rPr lang="en-US" altLang="zh-CN" sz="800">
                <a:latin typeface="Century Gothic" panose="020B0502020202020204" pitchFamily="34" charset="0"/>
              </a:rPr>
              <a:t>Yang Tian*, Yuyin Yang*, Yiman Xie*, Zetao Cai*, Xu Shi*, </a:t>
            </a:r>
            <a:r>
              <a:rPr lang="en-US" altLang="zh-CN" sz="800" b="1">
                <a:latin typeface="Century Gothic" panose="020B0502020202020204" pitchFamily="34" charset="0"/>
              </a:rPr>
              <a:t>Ning Gao</a:t>
            </a:r>
            <a:r>
              <a:rPr lang="en-US" altLang="zh-CN" sz="800">
                <a:latin typeface="Century Gothic" panose="020B0502020202020204" pitchFamily="34" charset="0"/>
              </a:rPr>
              <a:t>, Hangxu Liu, Xuekun Jiang, Zherui Qiu, Feng Yuan, Yaping Li, Ping Wang, Junhao Cai, Jia Zeng, Hao Dong, Jiangmiao Pang</a:t>
            </a:r>
          </a:p>
          <a:p>
            <a:pPr marL="457200" lvl="1" indent="0">
              <a:buNone/>
            </a:pPr>
            <a:r>
              <a:rPr lang="en-US" altLang="zh-CN" sz="800" b="1">
                <a:latin typeface="Century Gothic" panose="020B0502020202020204" pitchFamily="34" charset="0"/>
              </a:rPr>
              <a:t>ST4VLA: </a:t>
            </a:r>
            <a:r>
              <a:rPr lang="en-US" altLang="zh-CN" sz="800">
                <a:latin typeface="Century Gothic" panose="020B0502020202020204" pitchFamily="34" charset="0"/>
              </a:rPr>
              <a:t>Spatially Guided Training for Vision-Language-Action Models</a:t>
            </a:r>
          </a:p>
          <a:p>
            <a:pPr marL="457200" lvl="1" indent="0">
              <a:buNone/>
            </a:pPr>
            <a:r>
              <a:rPr lang="en-US" altLang="zh-CN" sz="800" b="1">
                <a:latin typeface="Century Gothic" panose="020B0502020202020204" pitchFamily="34" charset="0"/>
              </a:rPr>
              <a:t>ICLR 2026,</a:t>
            </a:r>
            <a:r>
              <a:rPr lang="en-US" altLang="zh-CN" sz="800">
                <a:latin typeface="Century Gothic" panose="020B0502020202020204" pitchFamily="34" charset="0"/>
              </a:rPr>
              <a:t> Jinhui Ye*, Fangjing Wang*, </a:t>
            </a:r>
            <a:r>
              <a:rPr lang="en-US" altLang="zh-CN" sz="800" b="1">
                <a:latin typeface="Century Gothic" panose="020B0502020202020204" pitchFamily="34" charset="0"/>
              </a:rPr>
              <a:t>Ning Gao*</a:t>
            </a:r>
            <a:r>
              <a:rPr lang="en-US" altLang="zh-CN" sz="800">
                <a:latin typeface="Century Gothic" panose="020B0502020202020204" pitchFamily="34" charset="0"/>
              </a:rPr>
              <a:t>, Junqiu Yu, Yangkun Zhu, Bin Wang, Jinyu Zhang, Weiyang Jin, Yanwei Fu, Feng Zheng, Yilun Chen, Jiangmiao Pang</a:t>
            </a:r>
          </a:p>
          <a:p>
            <a:pPr marL="457200" lvl="1" indent="0">
              <a:buNone/>
            </a:pPr>
            <a:r>
              <a:rPr lang="en-US" altLang="zh-CN" sz="800" b="1">
                <a:latin typeface="Century Gothic" panose="020B0502020202020204" pitchFamily="34" charset="0"/>
              </a:rPr>
              <a:t>InternVLA-M1: </a:t>
            </a:r>
            <a:r>
              <a:rPr lang="en-US" altLang="zh-CN" sz="800">
                <a:latin typeface="Century Gothic" panose="020B0502020202020204" pitchFamily="34" charset="0"/>
              </a:rPr>
              <a:t>Latent Spatial Grounding for Instruction-Following Robotic Manipulation</a:t>
            </a:r>
          </a:p>
          <a:p>
            <a:pPr marL="457200" lvl="1" indent="0">
              <a:buNone/>
            </a:pPr>
            <a:r>
              <a:rPr lang="en-US" altLang="zh-CN" sz="800" b="1">
                <a:latin typeface="Century Gothic" panose="020B0502020202020204" pitchFamily="34" charset="0"/>
              </a:rPr>
              <a:t>Tech Report, </a:t>
            </a:r>
            <a:r>
              <a:rPr lang="en-US" altLang="zh-CN" sz="800">
                <a:latin typeface="Century Gothic" panose="020B0502020202020204" pitchFamily="34" charset="0"/>
              </a:rPr>
              <a:t>Yilun Chen, </a:t>
            </a:r>
            <a:r>
              <a:rPr lang="en-US" altLang="zh-CN" sz="800" b="1">
                <a:latin typeface="Century Gothic" panose="020B0502020202020204" pitchFamily="34" charset="0"/>
              </a:rPr>
              <a:t>Ning Gao</a:t>
            </a:r>
            <a:r>
              <a:rPr lang="en-US" altLang="zh-CN" sz="800">
                <a:latin typeface="Century Gothic" panose="020B0502020202020204" pitchFamily="34" charset="0"/>
              </a:rPr>
              <a:t>, Jiangmiao Pang, Bolun Wang, Fangjing Wang, Jinhui Ye, Junqiu Yu, Jinyu Zhang, Yangkun Zhu, Xinyi Chen, Weiyang Jin, Hao Li, Yu Qiao, Yang Tian, Bin Wang, Hanqing Wang, Tai Wang, Ziqin Wang, Xueyuan Wei, Chao Wu, Shuai Yang, Jia Zeng, Jingjing Zhang, Shi Zhang, Bowen Zhou</a:t>
            </a:r>
          </a:p>
          <a:p>
            <a:pPr marL="457200" lvl="1" indent="0">
              <a:buNone/>
            </a:pPr>
            <a:r>
              <a:rPr lang="en-US" altLang="zh-CN" sz="800" b="1">
                <a:latin typeface="Century Gothic" panose="020B0502020202020204" pitchFamily="34" charset="0"/>
              </a:rPr>
              <a:t>GenManip: </a:t>
            </a:r>
            <a:r>
              <a:rPr lang="en-US" altLang="zh-CN" sz="800">
                <a:latin typeface="Century Gothic" panose="020B0502020202020204" pitchFamily="34" charset="0"/>
              </a:rPr>
              <a:t>A Simulation Platform for Generalizable TableTop Manipulation in theEra of MLLM</a:t>
            </a:r>
          </a:p>
          <a:p>
            <a:pPr marL="457200" lvl="1" indent="0">
              <a:buNone/>
            </a:pPr>
            <a:r>
              <a:rPr lang="en-US" altLang="zh-CN" sz="800" b="1">
                <a:latin typeface="Century Gothic" panose="020B0502020202020204" pitchFamily="34" charset="0"/>
              </a:rPr>
              <a:t>CVPR 2025, Ning Gao, </a:t>
            </a:r>
            <a:r>
              <a:rPr lang="en-US" altLang="zh-CN" sz="800">
                <a:latin typeface="Century Gothic" panose="020B0502020202020204" pitchFamily="34" charset="0"/>
              </a:rPr>
              <a:t>Yilun Chen, Shuai Yang, Xinyi Chen, Yang Tian, Hao Li, Haifeng Huang, Hanqing Wang,Tai Wang, Jiangmiao Pang</a:t>
            </a:r>
          </a:p>
          <a:p>
            <a:pPr marL="457200" lvl="1" indent="0">
              <a:buNone/>
            </a:pPr>
            <a:r>
              <a:rPr lang="en-US" altLang="zh-CN" sz="800" b="1">
                <a:latin typeface="Century Gothic" panose="020B0502020202020204" pitchFamily="34" charset="0"/>
              </a:rPr>
              <a:t>PMT: </a:t>
            </a:r>
            <a:r>
              <a:rPr lang="en-US" altLang="zh-CN" sz="800">
                <a:latin typeface="Century Gothic" panose="020B0502020202020204" pitchFamily="34" charset="0"/>
              </a:rPr>
              <a:t>Progressive Mean Teacher via Exploring Temporal Consistency for Semi-SupervisedMedical Image Segmentation</a:t>
            </a:r>
          </a:p>
          <a:p>
            <a:pPr marL="457200" lvl="1" indent="0">
              <a:buNone/>
            </a:pPr>
            <a:r>
              <a:rPr lang="en-US" altLang="zh-CN" sz="800" b="1">
                <a:latin typeface="Century Gothic" panose="020B0502020202020204" pitchFamily="34" charset="0"/>
              </a:rPr>
              <a:t>ECCV 2024, Ning Gao</a:t>
            </a:r>
            <a:r>
              <a:rPr lang="en-US" altLang="zh-CN" sz="800">
                <a:latin typeface="Century Gothic" panose="020B0502020202020204" pitchFamily="34" charset="0"/>
              </a:rPr>
              <a:t>, Sanping Zhou, Le Wang, Nanning Zheng</a:t>
            </a:r>
            <a:endParaRPr lang="en-US" altLang="zh-CN" sz="1050"/>
          </a:p>
          <a:p>
            <a:r>
              <a:rPr lang="zh-CN" altLang="en-US" sz="1500">
                <a:latin typeface="华文楷体" panose="02010600040101010101" pitchFamily="2" charset="-122"/>
                <a:ea typeface="华文楷体" panose="02010600040101010101" pitchFamily="2" charset="-122"/>
              </a:rPr>
              <a:t>项目参与</a:t>
            </a:r>
            <a:endParaRPr lang="en-US" altLang="zh-CN" sz="1500">
              <a:latin typeface="华文楷体" panose="02010600040101010101" pitchFamily="2" charset="-122"/>
              <a:ea typeface="华文楷体" panose="02010600040101010101" pitchFamily="2" charset="-122"/>
            </a:endParaRPr>
          </a:p>
          <a:p>
            <a:pPr marL="457200" lvl="1" indent="0">
              <a:buNone/>
            </a:pPr>
            <a:r>
              <a:rPr lang="en-US" altLang="zh-CN" sz="800" b="1">
                <a:latin typeface="Century Gothic" panose="020B0502020202020204" pitchFamily="34" charset="0"/>
                <a:ea typeface="华文楷体" panose="02010600040101010101" pitchFamily="2" charset="-122"/>
              </a:rPr>
              <a:t>StarVLA</a:t>
            </a:r>
            <a:r>
              <a:rPr lang="en-US" altLang="zh-CN" sz="800" b="1">
                <a:latin typeface="Century Gothic" panose="020B0502020202020204" pitchFamily="34" charset="0"/>
              </a:rPr>
              <a:t>: A Lego-like Codebase for Vision-Language-Action Model Developing</a:t>
            </a:r>
            <a:endParaRPr lang="en-US" altLang="zh-CN" sz="800" b="1">
              <a:latin typeface="Century Gothic" panose="020B0502020202020204" pitchFamily="34" charset="0"/>
              <a:ea typeface="华文楷体" panose="02010600040101010101" pitchFamily="2" charset="-122"/>
            </a:endParaRPr>
          </a:p>
          <a:p>
            <a:pPr marL="457200" lvl="1" indent="0">
              <a:buNone/>
            </a:pPr>
            <a:r>
              <a:rPr lang="en-US" altLang="zh-CN" sz="800" b="1">
                <a:latin typeface="Century Gothic" panose="020B0502020202020204" pitchFamily="34" charset="0"/>
                <a:ea typeface="华文楷体" panose="02010600040101010101" pitchFamily="2" charset="-122"/>
              </a:rPr>
              <a:t>Open-source Project, </a:t>
            </a:r>
            <a:r>
              <a:rPr lang="en-US" altLang="zh-CN" sz="800">
                <a:latin typeface="Century Gothic" panose="020B0502020202020204" pitchFamily="34" charset="0"/>
                <a:ea typeface="华文楷体" panose="02010600040101010101" pitchFamily="2" charset="-122"/>
              </a:rPr>
              <a:t>Core Contributor</a:t>
            </a:r>
          </a:p>
          <a:p>
            <a:pPr marL="457200" lvl="1" indent="0">
              <a:buNone/>
            </a:pPr>
            <a:r>
              <a:rPr lang="en-US" altLang="zh-CN" sz="800" b="1">
                <a:latin typeface="Century Gothic" panose="020B0502020202020204" pitchFamily="34" charset="0"/>
                <a:ea typeface="华文楷体" panose="02010600040101010101" pitchFamily="2" charset="-122"/>
              </a:rPr>
              <a:t>RoboMaster, National First Price x 3, </a:t>
            </a:r>
            <a:r>
              <a:rPr lang="en-US" altLang="zh-CN" sz="800">
                <a:latin typeface="Century Gothic" panose="020B0502020202020204" pitchFamily="34" charset="0"/>
                <a:ea typeface="华文楷体" panose="02010600040101010101" pitchFamily="2" charset="-122"/>
              </a:rPr>
              <a:t>Vision Group Leader</a:t>
            </a:r>
          </a:p>
          <a:p>
            <a:pPr marL="457200" lvl="1" indent="0">
              <a:buNone/>
            </a:pPr>
            <a:r>
              <a:rPr lang="en-US" altLang="zh-CN" sz="800" b="1">
                <a:latin typeface="Century Gothic" panose="020B0502020202020204" pitchFamily="34" charset="0"/>
                <a:ea typeface="华文楷体" panose="02010600040101010101" pitchFamily="2" charset="-122"/>
              </a:rPr>
              <a:t>Challenge of Multimodal Robot Learning in InternUtopia and Real World</a:t>
            </a:r>
          </a:p>
          <a:p>
            <a:pPr marL="457200" lvl="1" indent="0">
              <a:buNone/>
            </a:pPr>
            <a:r>
              <a:rPr lang="en-US" altLang="zh-CN" sz="800" b="1">
                <a:latin typeface="Century Gothic" panose="020B0502020202020204" pitchFamily="34" charset="0"/>
                <a:ea typeface="华文楷体" panose="02010600040101010101" pitchFamily="2" charset="-122"/>
              </a:rPr>
              <a:t>IROS Workshop 2025</a:t>
            </a:r>
            <a:r>
              <a:rPr lang="en-US" altLang="zh-CN" sz="800">
                <a:latin typeface="Century Gothic" panose="020B0502020202020204" pitchFamily="34" charset="0"/>
                <a:ea typeface="华文楷体" panose="02010600040101010101" pitchFamily="2" charset="-122"/>
              </a:rPr>
              <a:t>,</a:t>
            </a:r>
            <a:r>
              <a:rPr lang="zh-CN" altLang="en-US" sz="800">
                <a:latin typeface="Century Gothic" panose="020B0502020202020204" pitchFamily="34" charset="0"/>
                <a:ea typeface="华文楷体" panose="02010600040101010101" pitchFamily="2" charset="-122"/>
              </a:rPr>
              <a:t> </a:t>
            </a:r>
            <a:r>
              <a:rPr lang="en-US" altLang="zh-CN" sz="800">
                <a:latin typeface="Century Gothic" panose="020B0502020202020204" pitchFamily="34" charset="0"/>
                <a:ea typeface="华文楷体" panose="02010600040101010101" pitchFamily="2" charset="-122"/>
              </a:rPr>
              <a:t>Core Maintainer</a:t>
            </a:r>
          </a:p>
          <a:p>
            <a:pPr marL="457200" lvl="1" indent="0">
              <a:buNone/>
            </a:pPr>
            <a:r>
              <a:rPr lang="en-US" altLang="zh-CN" sz="800" b="1">
                <a:latin typeface="Century Gothic" panose="020B0502020202020204" pitchFamily="34" charset="0"/>
                <a:ea typeface="华文楷体" panose="02010600040101010101" pitchFamily="2" charset="-122"/>
              </a:rPr>
              <a:t>InternManip: </a:t>
            </a:r>
            <a:r>
              <a:rPr lang="en-US" altLang="zh-CN" sz="800">
                <a:latin typeface="Century Gothic" panose="020B0502020202020204" pitchFamily="34" charset="0"/>
                <a:ea typeface="华文楷体" panose="02010600040101010101" pitchFamily="2" charset="-122"/>
              </a:rPr>
              <a:t>An all-in-one robot manipulation learning suites</a:t>
            </a:r>
          </a:p>
          <a:p>
            <a:pPr marL="457200" lvl="1" indent="0">
              <a:buNone/>
            </a:pPr>
            <a:r>
              <a:rPr lang="en-US" altLang="zh-CN" sz="800" b="1">
                <a:latin typeface="Century Gothic" panose="020B0502020202020204" pitchFamily="34" charset="0"/>
                <a:ea typeface="华文楷体" panose="02010600040101010101" pitchFamily="2" charset="-122"/>
              </a:rPr>
              <a:t>Open-source Project, </a:t>
            </a:r>
            <a:r>
              <a:rPr lang="en-US" altLang="zh-CN" sz="800">
                <a:latin typeface="Century Gothic" panose="020B0502020202020204" pitchFamily="34" charset="0"/>
                <a:ea typeface="华文楷体" panose="02010600040101010101" pitchFamily="2" charset="-122"/>
              </a:rPr>
              <a:t>Maintainer</a:t>
            </a:r>
          </a:p>
          <a:p>
            <a:pPr marL="457200" lvl="1" indent="0">
              <a:buNone/>
            </a:pPr>
            <a:r>
              <a:rPr lang="zh-CN" altLang="en-US" sz="800" b="1">
                <a:latin typeface="Century Gothic" panose="020B0502020202020204" pitchFamily="34" charset="0"/>
                <a:ea typeface="华文楷体" panose="02010600040101010101" pitchFamily="2" charset="-122"/>
              </a:rPr>
              <a:t>具身智能技术指南 </a:t>
            </a:r>
            <a:r>
              <a:rPr lang="en-US" altLang="zh-CN" sz="800" b="1">
                <a:latin typeface="Century Gothic" panose="020B0502020202020204" pitchFamily="34" charset="0"/>
                <a:ea typeface="华文楷体" panose="02010600040101010101" pitchFamily="2" charset="-122"/>
              </a:rPr>
              <a:t>Embodied-AI-Guide</a:t>
            </a:r>
          </a:p>
          <a:p>
            <a:pPr marL="457200" lvl="1" indent="0">
              <a:buNone/>
            </a:pPr>
            <a:r>
              <a:rPr lang="en-US" altLang="zh-CN" sz="800" b="1">
                <a:latin typeface="Century Gothic" panose="020B0502020202020204" pitchFamily="34" charset="0"/>
                <a:ea typeface="华文楷体" panose="02010600040101010101" pitchFamily="2" charset="-122"/>
              </a:rPr>
              <a:t>Open-source Project 7.7K Stars, </a:t>
            </a:r>
            <a:r>
              <a:rPr lang="en-US" altLang="zh-CN" sz="800">
                <a:latin typeface="Century Gothic" panose="020B0502020202020204" pitchFamily="34" charset="0"/>
                <a:ea typeface="华文楷体" panose="02010600040101010101" pitchFamily="2" charset="-122"/>
              </a:rPr>
              <a:t>Core Maintainer</a:t>
            </a:r>
            <a:endParaRPr lang="en-US" altLang="zh-CN" sz="1050"/>
          </a:p>
          <a:p>
            <a:r>
              <a:rPr lang="zh-CN" altLang="en-US" sz="1600">
                <a:latin typeface="华文楷体" panose="02010600040101010101" pitchFamily="2" charset="-122"/>
                <a:ea typeface="华文楷体" panose="02010600040101010101" pitchFamily="2" charset="-122"/>
              </a:rPr>
              <a:t>社区建设</a:t>
            </a:r>
            <a:endParaRPr lang="en-US" altLang="zh-CN" sz="1600">
              <a:latin typeface="华文楷体" panose="02010600040101010101" pitchFamily="2" charset="-122"/>
              <a:ea typeface="华文楷体" panose="02010600040101010101" pitchFamily="2" charset="-122"/>
            </a:endParaRPr>
          </a:p>
          <a:p>
            <a:pPr marL="457200" lvl="1" indent="0">
              <a:buNone/>
            </a:pPr>
            <a:r>
              <a:rPr lang="en-US" altLang="zh-CN" sz="800" b="1">
                <a:latin typeface="Century Gothic" panose="020B0502020202020204" pitchFamily="34" charset="0"/>
                <a:ea typeface="华文楷体" panose="02010600040101010101" pitchFamily="2" charset="-122"/>
              </a:rPr>
              <a:t>Lumina</a:t>
            </a:r>
            <a:r>
              <a:rPr lang="en-US" altLang="zh-CN" sz="800" b="1">
                <a:latin typeface="华文楷体" panose="02010600040101010101" pitchFamily="2" charset="-122"/>
                <a:ea typeface="华文楷体" panose="02010600040101010101" pitchFamily="2" charset="-122"/>
              </a:rPr>
              <a:t> </a:t>
            </a:r>
            <a:r>
              <a:rPr lang="zh-CN" altLang="en-US" sz="800">
                <a:latin typeface="华文楷体" panose="02010600040101010101" pitchFamily="2" charset="-122"/>
                <a:ea typeface="华文楷体" panose="02010600040101010101" pitchFamily="2" charset="-122"/>
              </a:rPr>
              <a:t>具身智能社区</a:t>
            </a:r>
            <a:r>
              <a:rPr lang="en-US" altLang="zh-CN" sz="800">
                <a:latin typeface="华文楷体" panose="02010600040101010101" pitchFamily="2" charset="-122"/>
                <a:ea typeface="华文楷体" panose="02010600040101010101" pitchFamily="2" charset="-122"/>
              </a:rPr>
              <a:t>, </a:t>
            </a:r>
            <a:r>
              <a:rPr lang="zh-CN" altLang="en-US" sz="800" b="1">
                <a:latin typeface="华文楷体" panose="02010600040101010101" pitchFamily="2" charset="-122"/>
                <a:ea typeface="华文楷体" panose="02010600040101010101" pitchFamily="2" charset="-122"/>
              </a:rPr>
              <a:t>联合创始人</a:t>
            </a:r>
            <a:endParaRPr lang="en-US" altLang="zh-CN" sz="800" b="1">
              <a:latin typeface="华文楷体" panose="02010600040101010101" pitchFamily="2" charset="-122"/>
              <a:ea typeface="华文楷体" panose="02010600040101010101" pitchFamily="2" charset="-122"/>
            </a:endParaRPr>
          </a:p>
          <a:p>
            <a:pPr marL="457200" lvl="1" indent="0">
              <a:buNone/>
            </a:pPr>
            <a:r>
              <a:rPr lang="zh-CN" altLang="en-US" sz="800">
                <a:latin typeface="华文楷体" panose="02010600040101010101" pitchFamily="2" charset="-122"/>
                <a:ea typeface="华文楷体" panose="02010600040101010101" pitchFamily="2" charset="-122"/>
              </a:rPr>
              <a:t>计算机保研交流群 </a:t>
            </a:r>
            <a:r>
              <a:rPr lang="en-US" altLang="zh-CN" sz="800">
                <a:latin typeface="华文楷体" panose="02010600040101010101" pitchFamily="2" charset="-122"/>
                <a:ea typeface="华文楷体" panose="02010600040101010101" pitchFamily="2" charset="-122"/>
              </a:rPr>
              <a:t>(</a:t>
            </a:r>
            <a:r>
              <a:rPr lang="zh-CN" altLang="en-US" sz="800" b="1">
                <a:latin typeface="华文楷体" panose="02010600040101010101" pitchFamily="2" charset="-122"/>
                <a:ea typeface="华文楷体" panose="02010600040101010101" pitchFamily="2" charset="-122"/>
              </a:rPr>
              <a:t>绿群</a:t>
            </a:r>
            <a:r>
              <a:rPr lang="en-US" altLang="zh-CN" sz="800">
                <a:latin typeface="华文楷体" panose="02010600040101010101" pitchFamily="2" charset="-122"/>
                <a:ea typeface="华文楷体" panose="02010600040101010101" pitchFamily="2" charset="-122"/>
              </a:rPr>
              <a:t>), </a:t>
            </a:r>
            <a:r>
              <a:rPr lang="en-US" altLang="zh-CN" sz="800" b="1">
                <a:latin typeface="Century Gothic" panose="020B0502020202020204" pitchFamily="34" charset="0"/>
                <a:ea typeface="华文楷体" panose="02010600040101010101" pitchFamily="2" charset="-122"/>
              </a:rPr>
              <a:t>Owner</a:t>
            </a:r>
            <a:endParaRPr lang="en-US" altLang="zh-CN" sz="100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39BE68A3-032B-4F03-A387-B485B05EDCA5}"/>
              </a:ext>
            </a:extLst>
          </p:cNvPr>
          <p:cNvPicPr>
            <a:picLocks noChangeAspect="1"/>
          </p:cNvPicPr>
          <p:nvPr/>
        </p:nvPicPr>
        <p:blipFill>
          <a:blip r:embed="rId2"/>
          <a:stretch>
            <a:fillRect/>
          </a:stretch>
        </p:blipFill>
        <p:spPr>
          <a:xfrm>
            <a:off x="6797040" y="4410592"/>
            <a:ext cx="5394960" cy="2108854"/>
          </a:xfrm>
          <a:prstGeom prst="rect">
            <a:avLst/>
          </a:prstGeom>
        </p:spPr>
      </p:pic>
      <p:sp>
        <p:nvSpPr>
          <p:cNvPr id="7" name="文本框 6">
            <a:extLst>
              <a:ext uri="{FF2B5EF4-FFF2-40B4-BE49-F238E27FC236}">
                <a16:creationId xmlns:a16="http://schemas.microsoft.com/office/drawing/2014/main" id="{09C8401B-7641-4747-9C1C-C7E34FBE3244}"/>
              </a:ext>
            </a:extLst>
          </p:cNvPr>
          <p:cNvSpPr txBox="1"/>
          <p:nvPr/>
        </p:nvSpPr>
        <p:spPr>
          <a:xfrm>
            <a:off x="8286342" y="6519446"/>
            <a:ext cx="2345094" cy="338554"/>
          </a:xfrm>
          <a:prstGeom prst="rect">
            <a:avLst/>
          </a:prstGeom>
          <a:noFill/>
        </p:spPr>
        <p:txBody>
          <a:bodyPr wrap="square">
            <a:spAutoFit/>
          </a:bodyPr>
          <a:lstStyle/>
          <a:p>
            <a:pPr algn="ctr"/>
            <a:r>
              <a:rPr lang="en-US" altLang="zh-CN" sz="1600" b="1">
                <a:latin typeface="Century Gothic" panose="020B0502020202020204" pitchFamily="34" charset="0"/>
                <a:ea typeface="华文楷体" panose="02010600040101010101" pitchFamily="2" charset="-122"/>
              </a:rPr>
              <a:t>https://axi404.top</a:t>
            </a:r>
            <a:endParaRPr lang="zh-CN" altLang="en-US" sz="1600"/>
          </a:p>
        </p:txBody>
      </p:sp>
    </p:spTree>
    <p:extLst>
      <p:ext uri="{BB962C8B-B14F-4D97-AF65-F5344CB8AC3E}">
        <p14:creationId xmlns:p14="http://schemas.microsoft.com/office/powerpoint/2010/main" val="1714422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74FDC8-20F5-4097-AFB9-45DEEADB36E3}"/>
              </a:ext>
            </a:extLst>
          </p:cNvPr>
          <p:cNvSpPr>
            <a:spLocks noGrp="1"/>
          </p:cNvSpPr>
          <p:nvPr>
            <p:ph type="title"/>
          </p:nvPr>
        </p:nvSpPr>
        <p:spPr/>
        <p:txBody>
          <a:bodyPr>
            <a:normAutofit/>
          </a:bodyPr>
          <a:lstStyle/>
          <a:p>
            <a:r>
              <a:rPr lang="zh-CN" altLang="en-US" sz="3600">
                <a:latin typeface="华文楷体" panose="02010600040101010101" pitchFamily="2" charset="-122"/>
                <a:ea typeface="华文楷体" panose="02010600040101010101" pitchFamily="2" charset="-122"/>
              </a:rPr>
              <a:t>定理</a:t>
            </a:r>
            <a:r>
              <a:rPr lang="en-US" altLang="zh-CN" sz="3600">
                <a:latin typeface="华文楷体" panose="02010600040101010101" pitchFamily="2" charset="-122"/>
                <a:ea typeface="华文楷体" panose="02010600040101010101" pitchFamily="2" charset="-122"/>
              </a:rPr>
              <a:t>1</a:t>
            </a:r>
            <a:r>
              <a:rPr lang="zh-CN" altLang="en-US" sz="3600">
                <a:latin typeface="华文楷体" panose="02010600040101010101" pitchFamily="2" charset="-122"/>
                <a:ea typeface="华文楷体" panose="02010600040101010101" pitchFamily="2" charset="-122"/>
              </a:rPr>
              <a:t>：问题不会变多或者变少，只是权重发生变化</a:t>
            </a:r>
          </a:p>
        </p:txBody>
      </p:sp>
      <p:sp>
        <p:nvSpPr>
          <p:cNvPr id="3" name="内容占位符 2">
            <a:extLst>
              <a:ext uri="{FF2B5EF4-FFF2-40B4-BE49-F238E27FC236}">
                <a16:creationId xmlns:a16="http://schemas.microsoft.com/office/drawing/2014/main" id="{15258F97-8A14-4F0B-A160-1A5C59A5C957}"/>
              </a:ext>
            </a:extLst>
          </p:cNvPr>
          <p:cNvSpPr>
            <a:spLocks noGrp="1"/>
          </p:cNvSpPr>
          <p:nvPr>
            <p:ph idx="1"/>
          </p:nvPr>
        </p:nvSpPr>
        <p:spPr/>
        <p:txBody>
          <a:bodyPr/>
          <a:lstStyle/>
          <a:p>
            <a:r>
              <a:rPr lang="en-US" altLang="zh-CN" dirty="0">
                <a:latin typeface="华文楷体" panose="02010600040101010101" pitchFamily="2" charset="-122"/>
                <a:ea typeface="华文楷体" panose="02010600040101010101" pitchFamily="2" charset="-122"/>
              </a:rPr>
              <a:t>E.g. </a:t>
            </a:r>
            <a:r>
              <a:rPr lang="zh-CN" altLang="en-US" dirty="0">
                <a:latin typeface="华文楷体" panose="02010600040101010101" pitchFamily="2" charset="-122"/>
                <a:ea typeface="华文楷体" panose="02010600040101010101" pitchFamily="2" charset="-122"/>
              </a:rPr>
              <a:t>为什么这个讲座相较于别的更加有趣</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在前沿探索进入工业化进程的当下，很多研究者对于问题的发现也在变模糊，很多时候我们确认一个人的科研水平，往往是看</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这个人是否了解全部的问题</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这个人对于全部的问题的权重如何衡量（即，什么是更重要的事情）</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646086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A34C4-E456-18FD-627E-0FFD68E7A30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026865-F444-01A8-A2E5-5546C60B1E33}"/>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E.g. </a:t>
            </a:r>
            <a:r>
              <a:rPr lang="zh-CN" altLang="en-US" sz="3600" dirty="0">
                <a:latin typeface="华文楷体" panose="02010600040101010101" pitchFamily="2" charset="-122"/>
                <a:ea typeface="华文楷体" panose="02010600040101010101" pitchFamily="2" charset="-122"/>
              </a:rPr>
              <a:t>具身智能领域遇到的问题</a:t>
            </a:r>
          </a:p>
        </p:txBody>
      </p:sp>
      <p:sp>
        <p:nvSpPr>
          <p:cNvPr id="3" name="内容占位符 2">
            <a:extLst>
              <a:ext uri="{FF2B5EF4-FFF2-40B4-BE49-F238E27FC236}">
                <a16:creationId xmlns:a16="http://schemas.microsoft.com/office/drawing/2014/main" id="{0AC0BDC0-FF88-EBE4-454B-E923C0DDE079}"/>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如何 </a:t>
            </a:r>
            <a:r>
              <a:rPr lang="en-US" altLang="zh-CN" dirty="0">
                <a:latin typeface="华文楷体" panose="02010600040101010101" pitchFamily="2" charset="-122"/>
                <a:ea typeface="华文楷体" panose="02010600040101010101" pitchFamily="2" charset="-122"/>
              </a:rPr>
              <a:t>Leverage Pretrained Model </a:t>
            </a:r>
            <a:r>
              <a:rPr lang="zh-CN" altLang="en-US" dirty="0">
                <a:latin typeface="华文楷体" panose="02010600040101010101" pitchFamily="2" charset="-122"/>
                <a:ea typeface="华文楷体" panose="02010600040101010101" pitchFamily="2" charset="-122"/>
              </a:rPr>
              <a:t>的能力</a:t>
            </a:r>
            <a:endParaRPr lang="en-US" altLang="zh-CN" dirty="0">
              <a:latin typeface="华文楷体" panose="02010600040101010101" pitchFamily="2" charset="-122"/>
              <a:ea typeface="华文楷体" panose="02010600040101010101" pitchFamily="2" charset="-122"/>
            </a:endParaRPr>
          </a:p>
          <a:p>
            <a:pPr lvl="1"/>
            <a:r>
              <a:rPr lang="en-US" altLang="zh-CN" dirty="0">
                <a:latin typeface="华文楷体" panose="02010600040101010101" pitchFamily="2" charset="-122"/>
                <a:ea typeface="华文楷体" panose="02010600040101010101" pitchFamily="2" charset="-122"/>
              </a:rPr>
              <a:t>VLM4A/WM4A</a:t>
            </a:r>
          </a:p>
          <a:p>
            <a:r>
              <a:rPr lang="en-US" altLang="zh-CN" dirty="0">
                <a:latin typeface="华文楷体" panose="02010600040101010101" pitchFamily="2" charset="-122"/>
                <a:ea typeface="华文楷体" panose="02010600040101010101" pitchFamily="2" charset="-122"/>
              </a:rPr>
              <a:t>Long Horizon </a:t>
            </a:r>
            <a:r>
              <a:rPr lang="zh-CN" altLang="en-US" dirty="0">
                <a:latin typeface="华文楷体" panose="02010600040101010101" pitchFamily="2" charset="-122"/>
                <a:ea typeface="华文楷体" panose="02010600040101010101" pitchFamily="2" charset="-122"/>
              </a:rPr>
              <a:t>任务执行</a:t>
            </a:r>
            <a:r>
              <a:rPr lang="en-US" altLang="zh-CN" dirty="0">
                <a:latin typeface="华文楷体" panose="02010600040101010101" pitchFamily="2" charset="-122"/>
                <a:ea typeface="华文楷体" panose="02010600040101010101" pitchFamily="2" charset="-122"/>
              </a:rPr>
              <a:t>/Memory/Agentic System2</a:t>
            </a:r>
          </a:p>
          <a:p>
            <a:r>
              <a:rPr lang="zh-CN" altLang="en-US" dirty="0">
                <a:latin typeface="华文楷体" panose="02010600040101010101" pitchFamily="2" charset="-122"/>
                <a:ea typeface="华文楷体" panose="02010600040101010101" pitchFamily="2" charset="-122"/>
              </a:rPr>
              <a:t>数据匮乏</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利用其它数据</a:t>
            </a:r>
            <a:endParaRPr lang="en-US" altLang="zh-CN" dirty="0">
              <a:latin typeface="华文楷体" panose="02010600040101010101" pitchFamily="2" charset="-122"/>
              <a:ea typeface="华文楷体" panose="02010600040101010101" pitchFamily="2" charset="-122"/>
            </a:endParaRPr>
          </a:p>
          <a:p>
            <a:pPr lvl="1"/>
            <a:r>
              <a:rPr lang="en-US" altLang="zh-CN" dirty="0">
                <a:latin typeface="华文楷体" panose="02010600040101010101" pitchFamily="2" charset="-122"/>
                <a:ea typeface="华文楷体" panose="02010600040101010101" pitchFamily="2" charset="-122"/>
              </a:rPr>
              <a:t>Human Data/UMI</a:t>
            </a:r>
          </a:p>
          <a:p>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869789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CE289-9B37-7EFF-77A6-699A8AF5B37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E167D1-85EA-2236-6B01-BE320CC30357}"/>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将时间花费在更有意义的地方</a:t>
            </a:r>
          </a:p>
        </p:txBody>
      </p:sp>
      <p:sp>
        <p:nvSpPr>
          <p:cNvPr id="3" name="内容占位符 2">
            <a:extLst>
              <a:ext uri="{FF2B5EF4-FFF2-40B4-BE49-F238E27FC236}">
                <a16:creationId xmlns:a16="http://schemas.microsoft.com/office/drawing/2014/main" id="{BB441C41-C4E2-4C67-884B-BD9284CFF0FC}"/>
              </a:ext>
            </a:extLst>
          </p:cNvPr>
          <p:cNvSpPr>
            <a:spLocks noGrp="1"/>
          </p:cNvSpPr>
          <p:nvPr>
            <p:ph idx="1"/>
          </p:nvPr>
        </p:nvSpPr>
        <p:spPr>
          <a:xfrm>
            <a:off x="838200" y="1283291"/>
            <a:ext cx="10515600" cy="5401288"/>
          </a:xfrm>
        </p:spPr>
        <p:txBody>
          <a:bodyPr>
            <a:normAutofit/>
          </a:bodyPr>
          <a:lstStyle/>
          <a:p>
            <a:r>
              <a:rPr lang="zh-CN" altLang="en-US" dirty="0">
                <a:latin typeface="华文楷体" panose="02010600040101010101" pitchFamily="2" charset="-122"/>
                <a:ea typeface="华文楷体" panose="02010600040101010101" pitchFamily="2" charset="-122"/>
              </a:rPr>
              <a:t>上课</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你们在大一上过后，就已经度过了自己上过的对于科研有意义的 </a:t>
            </a:r>
            <a:r>
              <a:rPr lang="en-US" altLang="zh-CN" dirty="0">
                <a:latin typeface="华文楷体" panose="02010600040101010101" pitchFamily="2" charset="-122"/>
                <a:ea typeface="华文楷体" panose="02010600040101010101" pitchFamily="2" charset="-122"/>
              </a:rPr>
              <a:t>99.999% </a:t>
            </a:r>
            <a:r>
              <a:rPr lang="zh-CN" altLang="en-US" dirty="0">
                <a:latin typeface="华文楷体" panose="02010600040101010101" pitchFamily="2" charset="-122"/>
                <a:ea typeface="华文楷体" panose="02010600040101010101" pitchFamily="2" charset="-122"/>
              </a:rPr>
              <a:t>的课程了</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你的进度需要远超课堂进度，如，大一下进组</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上课带来的更多是，服从性测试</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作业</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真的会有人不用 </a:t>
            </a:r>
            <a:r>
              <a:rPr lang="en-US" altLang="zh-CN" dirty="0">
                <a:latin typeface="华文楷体" panose="02010600040101010101" pitchFamily="2" charset="-122"/>
                <a:ea typeface="华文楷体" panose="02010600040101010101" pitchFamily="2" charset="-122"/>
              </a:rPr>
              <a:t>AI </a:t>
            </a:r>
            <a:r>
              <a:rPr lang="zh-CN" altLang="en-US" dirty="0">
                <a:latin typeface="华文楷体" panose="02010600040101010101" pitchFamily="2" charset="-122"/>
                <a:ea typeface="华文楷体" panose="02010600040101010101" pitchFamily="2" charset="-122"/>
              </a:rPr>
              <a:t>完成作业吗？</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竞赛</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除了 </a:t>
            </a:r>
            <a:r>
              <a:rPr lang="en-US" altLang="zh-CN" dirty="0">
                <a:latin typeface="华文楷体" panose="02010600040101010101" pitchFamily="2" charset="-122"/>
                <a:ea typeface="华文楷体" panose="02010600040101010101" pitchFamily="2" charset="-122"/>
              </a:rPr>
              <a:t>XCPC </a:t>
            </a:r>
            <a:r>
              <a:rPr lang="zh-CN" altLang="en-US" dirty="0">
                <a:latin typeface="华文楷体" panose="02010600040101010101" pitchFamily="2" charset="-122"/>
                <a:ea typeface="华文楷体" panose="02010600040101010101" pitchFamily="2" charset="-122"/>
              </a:rPr>
              <a:t>确实没有任何意义，</a:t>
            </a:r>
            <a:r>
              <a:rPr lang="en-US" altLang="zh-CN" dirty="0">
                <a:latin typeface="华文楷体" panose="02010600040101010101" pitchFamily="2" charset="-122"/>
                <a:ea typeface="华文楷体" panose="02010600040101010101" pitchFamily="2" charset="-122"/>
              </a:rPr>
              <a:t>XCPC </a:t>
            </a:r>
            <a:r>
              <a:rPr lang="zh-CN" altLang="en-US" dirty="0">
                <a:latin typeface="华文楷体" panose="02010600040101010101" pitchFamily="2" charset="-122"/>
                <a:ea typeface="华文楷体" panose="02010600040101010101" pitchFamily="2" charset="-122"/>
              </a:rPr>
              <a:t>可能还可以彰显一下你的智力水平可以，别的竞赛基本上都还是在用局部的视角来解决过时的问题</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科研</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几乎完全正确的</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309672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4EAEA-B402-5ED9-D7DB-531131E9601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9309A4E-70D4-F662-2743-5B3B3F556098}"/>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如何快速入门科研</a:t>
            </a:r>
          </a:p>
        </p:txBody>
      </p:sp>
      <p:sp>
        <p:nvSpPr>
          <p:cNvPr id="3" name="内容占位符 2">
            <a:extLst>
              <a:ext uri="{FF2B5EF4-FFF2-40B4-BE49-F238E27FC236}">
                <a16:creationId xmlns:a16="http://schemas.microsoft.com/office/drawing/2014/main" id="{DA789B20-AD02-195A-6F73-78F79ACC5617}"/>
              </a:ext>
            </a:extLst>
          </p:cNvPr>
          <p:cNvSpPr>
            <a:spLocks noGrp="1"/>
          </p:cNvSpPr>
          <p:nvPr>
            <p:ph idx="1"/>
          </p:nvPr>
        </p:nvSpPr>
        <p:spPr>
          <a:xfrm>
            <a:off x="838200" y="1825625"/>
            <a:ext cx="10515600" cy="5079672"/>
          </a:xfrm>
        </p:spPr>
        <p:txBody>
          <a:bodyPr>
            <a:normAutofit/>
          </a:bodyPr>
          <a:lstStyle/>
          <a:p>
            <a:r>
              <a:rPr lang="zh-CN" altLang="en-US" dirty="0">
                <a:latin typeface="华文楷体" panose="02010600040101010101" pitchFamily="2" charset="-122"/>
                <a:ea typeface="华文楷体" panose="02010600040101010101" pitchFamily="2" charset="-122"/>
              </a:rPr>
              <a:t>数学基础</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计算机基础</a:t>
            </a:r>
            <a:endParaRPr lang="en-US" altLang="zh-CN" dirty="0">
              <a:latin typeface="华文楷体" panose="02010600040101010101" pitchFamily="2" charset="-122"/>
              <a:ea typeface="华文楷体" panose="02010600040101010101" pitchFamily="2" charset="-122"/>
            </a:endParaRPr>
          </a:p>
          <a:p>
            <a:pPr lvl="1"/>
            <a:r>
              <a:rPr lang="en-US" altLang="zh-CN" dirty="0">
                <a:latin typeface="华文楷体" panose="02010600040101010101" pitchFamily="2" charset="-122"/>
                <a:ea typeface="华文楷体" panose="02010600040101010101" pitchFamily="2" charset="-122"/>
              </a:rPr>
              <a:t>Linux</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SSH</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Git</a:t>
            </a:r>
          </a:p>
          <a:p>
            <a:pPr lvl="1"/>
            <a:r>
              <a:rPr lang="zh-CN" altLang="en-US" dirty="0">
                <a:latin typeface="华文楷体" panose="02010600040101010101" pitchFamily="2" charset="-122"/>
                <a:ea typeface="华文楷体" panose="02010600040101010101" pitchFamily="2" charset="-122"/>
              </a:rPr>
              <a:t>如果你没有，你需要听完讲座立刻做的事情就是去算力平台（如 </a:t>
            </a:r>
            <a:r>
              <a:rPr lang="en-US" altLang="zh-CN" dirty="0" err="1">
                <a:latin typeface="华文楷体" panose="02010600040101010101" pitchFamily="2" charset="-122"/>
                <a:ea typeface="华文楷体" panose="02010600040101010101" pitchFamily="2" charset="-122"/>
              </a:rPr>
              <a:t>autodl</a:t>
            </a:r>
            <a:r>
              <a:rPr lang="zh-CN" altLang="en-US" dirty="0">
                <a:latin typeface="华文楷体" panose="02010600040101010101" pitchFamily="2" charset="-122"/>
                <a:ea typeface="华文楷体" panose="02010600040101010101" pitchFamily="2" charset="-122"/>
              </a:rPr>
              <a:t>）租一台服务器，并且尝试上述内容</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或许一些关于 </a:t>
            </a:r>
            <a:r>
              <a:rPr lang="en-US" altLang="zh-CN" dirty="0">
                <a:latin typeface="华文楷体" panose="02010600040101010101" pitchFamily="2" charset="-122"/>
                <a:ea typeface="华文楷体" panose="02010600040101010101" pitchFamily="2" charset="-122"/>
              </a:rPr>
              <a:t>Python </a:t>
            </a:r>
            <a:r>
              <a:rPr lang="zh-CN" altLang="en-US" dirty="0">
                <a:latin typeface="华文楷体" panose="02010600040101010101" pitchFamily="2" charset="-122"/>
                <a:ea typeface="华文楷体" panose="02010600040101010101" pitchFamily="2" charset="-122"/>
              </a:rPr>
              <a:t>的基础，</a:t>
            </a:r>
            <a:r>
              <a:rPr lang="en-US" altLang="zh-CN" dirty="0" err="1">
                <a:latin typeface="华文楷体" panose="02010600040101010101" pitchFamily="2" charset="-122"/>
                <a:ea typeface="华文楷体" panose="02010600040101010101" pitchFamily="2" charset="-122"/>
              </a:rPr>
              <a:t>Miniconda</a:t>
            </a:r>
            <a:r>
              <a:rPr lang="en-US" altLang="zh-CN" dirty="0">
                <a:latin typeface="华文楷体" panose="02010600040101010101" pitchFamily="2" charset="-122"/>
                <a:ea typeface="华文楷体" panose="02010600040101010101" pitchFamily="2" charset="-122"/>
              </a:rPr>
              <a:t> or UV</a:t>
            </a:r>
          </a:p>
          <a:p>
            <a:r>
              <a:rPr lang="en-US" altLang="zh-CN" dirty="0">
                <a:latin typeface="华文楷体" panose="02010600040101010101" pitchFamily="2" charset="-122"/>
                <a:ea typeface="华文楷体" panose="02010600040101010101" pitchFamily="2" charset="-122"/>
              </a:rPr>
              <a:t>CS231n by </a:t>
            </a:r>
            <a:r>
              <a:rPr lang="en-US" altLang="zh-CN" dirty="0" err="1">
                <a:latin typeface="华文楷体" panose="02010600040101010101" pitchFamily="2" charset="-122"/>
                <a:ea typeface="华文楷体" panose="02010600040101010101" pitchFamily="2" charset="-122"/>
              </a:rPr>
              <a:t>Feifei</a:t>
            </a:r>
            <a:r>
              <a:rPr lang="en-US" altLang="zh-CN" dirty="0">
                <a:latin typeface="华文楷体" panose="02010600040101010101" pitchFamily="2" charset="-122"/>
                <a:ea typeface="华文楷体" panose="02010600040101010101" pitchFamily="2" charset="-122"/>
              </a:rPr>
              <a:t> Li, </a:t>
            </a:r>
            <a:r>
              <a:rPr lang="en-US" altLang="zh-CN" dirty="0" err="1">
                <a:latin typeface="华文楷体" panose="02010600040101010101" pitchFamily="2" charset="-122"/>
                <a:ea typeface="华文楷体" panose="02010600040101010101" pitchFamily="2" charset="-122"/>
              </a:rPr>
              <a:t>Bilibili</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有中文字幕的转载视频，不用写作业！</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充值 </a:t>
            </a:r>
            <a:r>
              <a:rPr lang="en-US" altLang="zh-CN" dirty="0">
                <a:latin typeface="华文楷体" panose="02010600040101010101" pitchFamily="2" charset="-122"/>
                <a:ea typeface="华文楷体" panose="02010600040101010101" pitchFamily="2" charset="-122"/>
              </a:rPr>
              <a:t>Cursor/Codex/Claude Code</a:t>
            </a:r>
            <a:r>
              <a:rPr lang="zh-CN" altLang="en-US" dirty="0">
                <a:latin typeface="华文楷体" panose="02010600040101010101" pitchFamily="2" charset="-122"/>
                <a:ea typeface="华文楷体" panose="02010600040101010101" pitchFamily="2" charset="-122"/>
              </a:rPr>
              <a:t>，并且编程</a:t>
            </a:r>
            <a:endParaRPr lang="en-US" altLang="zh-CN" dirty="0">
              <a:latin typeface="华文楷体" panose="02010600040101010101" pitchFamily="2" charset="-122"/>
              <a:ea typeface="华文楷体" panose="02010600040101010101" pitchFamily="2" charset="-122"/>
            </a:endParaRPr>
          </a:p>
          <a:p>
            <a:pPr lvl="1"/>
            <a:r>
              <a:rPr lang="en-US" altLang="zh-CN" dirty="0" err="1">
                <a:latin typeface="华文楷体" panose="02010600040101010101" pitchFamily="2" charset="-122"/>
                <a:ea typeface="华文楷体" panose="02010600040101010101" pitchFamily="2" charset="-122"/>
              </a:rPr>
              <a:t>Numpy</a:t>
            </a:r>
            <a:r>
              <a:rPr lang="en-US" altLang="zh-CN" dirty="0">
                <a:latin typeface="华文楷体" panose="02010600040101010101" pitchFamily="2" charset="-122"/>
                <a:ea typeface="华文楷体" panose="02010600040101010101" pitchFamily="2" charset="-122"/>
              </a:rPr>
              <a:t> </a:t>
            </a:r>
            <a:r>
              <a:rPr lang="en-US" altLang="zh-CN" dirty="0" err="1">
                <a:latin typeface="华文楷体" panose="02010600040101010101" pitchFamily="2" charset="-122"/>
                <a:ea typeface="华文楷体" panose="02010600040101010101" pitchFamily="2" charset="-122"/>
              </a:rPr>
              <a:t>PyTorch</a:t>
            </a:r>
            <a:r>
              <a:rPr lang="en-US" altLang="zh-CN" dirty="0">
                <a:latin typeface="华文楷体" panose="02010600040101010101" pitchFamily="2" charset="-122"/>
                <a:ea typeface="华文楷体" panose="02010600040101010101" pitchFamily="2" charset="-122"/>
              </a:rPr>
              <a:t> Transformers</a:t>
            </a:r>
          </a:p>
          <a:p>
            <a:pPr lvl="1"/>
            <a:r>
              <a:rPr lang="en-US" altLang="zh-CN" dirty="0" err="1">
                <a:latin typeface="华文楷体" panose="02010600040101010101" pitchFamily="2" charset="-122"/>
                <a:ea typeface="华文楷体" panose="02010600040101010101" pitchFamily="2" charset="-122"/>
              </a:rPr>
              <a:t>ViT</a:t>
            </a:r>
            <a:r>
              <a:rPr lang="en-US" altLang="zh-CN" dirty="0">
                <a:latin typeface="华文楷体" panose="02010600040101010101" pitchFamily="2" charset="-122"/>
                <a:ea typeface="华文楷体" panose="02010600040101010101" pitchFamily="2" charset="-122"/>
              </a:rPr>
              <a:t> on ImageNet</a:t>
            </a:r>
            <a:r>
              <a:rPr lang="zh-CN" altLang="en-US" dirty="0">
                <a:latin typeface="华文楷体" panose="02010600040101010101" pitchFamily="2" charset="-122"/>
                <a:ea typeface="华文楷体" panose="02010600040101010101" pitchFamily="2" charset="-122"/>
              </a:rPr>
              <a:t>，</a:t>
            </a:r>
            <a:r>
              <a:rPr lang="en-US" altLang="zh-CN" dirty="0" err="1">
                <a:latin typeface="华文楷体" panose="02010600040101010101" pitchFamily="2" charset="-122"/>
                <a:ea typeface="华文楷体" panose="02010600040101010101" pitchFamily="2" charset="-122"/>
              </a:rPr>
              <a:t>Huggingface</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部署 </a:t>
            </a:r>
            <a:r>
              <a:rPr lang="en-US" altLang="zh-CN" dirty="0">
                <a:latin typeface="华文楷体" panose="02010600040101010101" pitchFamily="2" charset="-122"/>
                <a:ea typeface="华文楷体" panose="02010600040101010101" pitchFamily="2" charset="-122"/>
              </a:rPr>
              <a:t>Gemma4</a:t>
            </a:r>
          </a:p>
          <a:p>
            <a:r>
              <a:rPr lang="zh-CN" altLang="en-US" dirty="0">
                <a:latin typeface="华文楷体" panose="02010600040101010101" pitchFamily="2" charset="-122"/>
                <a:ea typeface="华文楷体" panose="02010600040101010101" pitchFamily="2" charset="-122"/>
              </a:rPr>
              <a:t>进组科研</a:t>
            </a:r>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72CD234F-E416-6F41-A8CA-41F5C2E7F081}"/>
              </a:ext>
            </a:extLst>
          </p:cNvPr>
          <p:cNvPicPr>
            <a:picLocks noChangeAspect="1"/>
          </p:cNvPicPr>
          <p:nvPr/>
        </p:nvPicPr>
        <p:blipFill>
          <a:blip r:embed="rId2"/>
          <a:stretch>
            <a:fillRect/>
          </a:stretch>
        </p:blipFill>
        <p:spPr>
          <a:xfrm>
            <a:off x="5303520" y="598694"/>
            <a:ext cx="6888480" cy="2453861"/>
          </a:xfrm>
          <a:prstGeom prst="rect">
            <a:avLst/>
          </a:prstGeom>
        </p:spPr>
      </p:pic>
    </p:spTree>
    <p:extLst>
      <p:ext uri="{BB962C8B-B14F-4D97-AF65-F5344CB8AC3E}">
        <p14:creationId xmlns:p14="http://schemas.microsoft.com/office/powerpoint/2010/main" val="285656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BC351-682C-5094-6FFD-B1DB851106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1D33C98-2575-C20D-DED4-EA619C3083DE}"/>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定理</a:t>
            </a:r>
            <a:r>
              <a:rPr lang="en-US" altLang="zh-CN" sz="3600" dirty="0">
                <a:latin typeface="华文楷体" panose="02010600040101010101" pitchFamily="2" charset="-122"/>
                <a:ea typeface="华文楷体" panose="02010600040101010101" pitchFamily="2" charset="-122"/>
              </a:rPr>
              <a:t>2</a:t>
            </a:r>
            <a:r>
              <a:rPr lang="zh-CN" altLang="en-US" sz="3600" dirty="0">
                <a:latin typeface="华文楷体" panose="02010600040101010101" pitchFamily="2" charset="-122"/>
                <a:ea typeface="华文楷体" panose="02010600040101010101" pitchFamily="2" charset="-122"/>
              </a:rPr>
              <a:t>：拥有更多资源的人具有更大价值</a:t>
            </a:r>
          </a:p>
        </p:txBody>
      </p:sp>
      <p:sp>
        <p:nvSpPr>
          <p:cNvPr id="3" name="内容占位符 2">
            <a:extLst>
              <a:ext uri="{FF2B5EF4-FFF2-40B4-BE49-F238E27FC236}">
                <a16:creationId xmlns:a16="http://schemas.microsoft.com/office/drawing/2014/main" id="{F69067F5-0042-7AE1-A70A-A42D48954E77}"/>
              </a:ext>
            </a:extLst>
          </p:cNvPr>
          <p:cNvSpPr>
            <a:spLocks noGrp="1"/>
          </p:cNvSpPr>
          <p:nvPr>
            <p:ph idx="1"/>
          </p:nvPr>
        </p:nvSpPr>
        <p:spPr/>
        <p:txBody>
          <a:bodyPr>
            <a:normAutofit/>
          </a:bodyPr>
          <a:lstStyle/>
          <a:p>
            <a:r>
              <a:rPr lang="zh-CN" altLang="en-US" dirty="0">
                <a:latin typeface="华文楷体" panose="02010600040101010101" pitchFamily="2" charset="-122"/>
                <a:ea typeface="华文楷体" panose="02010600040101010101" pitchFamily="2" charset="-122"/>
              </a:rPr>
              <a:t>拥有最多资源的人获得最高的薪资</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不止是能力，也包括踩坑经验，这些经验对于没有经验的企业来说，价值是你拥有的资源的价值</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最多的资源往往在做 </a:t>
            </a:r>
            <a:r>
              <a:rPr lang="en-US" altLang="zh-CN" dirty="0">
                <a:latin typeface="华文楷体" panose="02010600040101010101" pitchFamily="2" charset="-122"/>
                <a:ea typeface="华文楷体" panose="02010600040101010101" pitchFamily="2" charset="-122"/>
              </a:rPr>
              <a:t>Pretraining</a:t>
            </a:r>
          </a:p>
          <a:p>
            <a:r>
              <a:rPr lang="en-US" altLang="zh-CN" dirty="0">
                <a:latin typeface="华文楷体" panose="02010600040101010101" pitchFamily="2" charset="-122"/>
                <a:ea typeface="华文楷体" panose="02010600040101010101" pitchFamily="2" charset="-122"/>
              </a:rPr>
              <a:t>Pretraining </a:t>
            </a:r>
            <a:r>
              <a:rPr lang="zh-CN" altLang="en-US" dirty="0">
                <a:latin typeface="华文楷体" panose="02010600040101010101" pitchFamily="2" charset="-122"/>
                <a:ea typeface="华文楷体" panose="02010600040101010101" pitchFamily="2" charset="-122"/>
              </a:rPr>
              <a:t>往往在工业界做</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提升自己身价的关键在产业界</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在工业界意味着我需要去企业实习</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企业实习意味着我需要在可以放实习</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推荐实习的课题组</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企业实习意味着我需要在与企业 </a:t>
            </a:r>
            <a:r>
              <a:rPr lang="en-US" altLang="zh-CN" dirty="0">
                <a:latin typeface="华文楷体" panose="02010600040101010101" pitchFamily="2" charset="-122"/>
                <a:ea typeface="华文楷体" panose="02010600040101010101" pitchFamily="2" charset="-122"/>
              </a:rPr>
              <a:t>Match </a:t>
            </a:r>
            <a:r>
              <a:rPr lang="zh-CN" altLang="en-US" dirty="0">
                <a:latin typeface="华文楷体" panose="02010600040101010101" pitchFamily="2" charset="-122"/>
                <a:ea typeface="华文楷体" panose="02010600040101010101" pitchFamily="2" charset="-122"/>
              </a:rPr>
              <a:t>的方向有过科研成果</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34922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74A15-6338-C05D-9CF7-2291C42296E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A87802-3D92-C02F-ACE9-BB91664AECAE}"/>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定理</a:t>
            </a:r>
            <a:r>
              <a:rPr lang="en-US" altLang="zh-CN" sz="3600" dirty="0">
                <a:latin typeface="华文楷体" panose="02010600040101010101" pitchFamily="2" charset="-122"/>
                <a:ea typeface="华文楷体" panose="02010600040101010101" pitchFamily="2" charset="-122"/>
              </a:rPr>
              <a:t>3</a:t>
            </a:r>
            <a:r>
              <a:rPr lang="zh-CN" altLang="en-US" sz="3600" dirty="0">
                <a:latin typeface="华文楷体" panose="02010600040101010101" pitchFamily="2" charset="-122"/>
                <a:ea typeface="华文楷体" panose="02010600040101010101" pitchFamily="2" charset="-122"/>
              </a:rPr>
              <a:t>：科研天梯图</a:t>
            </a:r>
          </a:p>
        </p:txBody>
      </p:sp>
      <p:sp>
        <p:nvSpPr>
          <p:cNvPr id="3" name="内容占位符 2">
            <a:extLst>
              <a:ext uri="{FF2B5EF4-FFF2-40B4-BE49-F238E27FC236}">
                <a16:creationId xmlns:a16="http://schemas.microsoft.com/office/drawing/2014/main" id="{F56477FD-7D3B-6364-60AE-9D5E0953F51B}"/>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前沿的科研一定是 </a:t>
            </a:r>
            <a:r>
              <a:rPr lang="en-US" altLang="zh-CN" dirty="0">
                <a:latin typeface="华文楷体" panose="02010600040101010101" pitchFamily="2" charset="-122"/>
                <a:ea typeface="华文楷体" panose="02010600040101010101" pitchFamily="2" charset="-122"/>
              </a:rPr>
              <a:t>Scalable </a:t>
            </a:r>
            <a:r>
              <a:rPr lang="zh-CN" altLang="en-US" dirty="0">
                <a:latin typeface="华文楷体" panose="02010600040101010101" pitchFamily="2" charset="-122"/>
                <a:ea typeface="华文楷体" panose="02010600040101010101" pitchFamily="2" charset="-122"/>
              </a:rPr>
              <a:t>的科研</a:t>
            </a:r>
            <a:endParaRPr lang="en-US" altLang="zh-CN"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T0</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LLM</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MLLM</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T2I</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T2V</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VLA</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Agent</a:t>
            </a:r>
            <a:r>
              <a:rPr lang="zh-CN" altLang="en-US" dirty="0">
                <a:latin typeface="华文楷体" panose="02010600040101010101" pitchFamily="2" charset="-122"/>
                <a:ea typeface="华文楷体" panose="02010600040101010101" pitchFamily="2" charset="-122"/>
              </a:rPr>
              <a:t>（对于产品向的可能 </a:t>
            </a:r>
            <a:r>
              <a:rPr lang="en-US" altLang="zh-CN" dirty="0" err="1">
                <a:latin typeface="华文楷体" panose="02010600040101010101" pitchFamily="2" charset="-122"/>
                <a:ea typeface="华文楷体" panose="02010600040101010101" pitchFamily="2" charset="-122"/>
              </a:rPr>
              <a:t>ToC</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不完全 </a:t>
            </a:r>
            <a:r>
              <a:rPr lang="en-US" altLang="zh-CN" dirty="0">
                <a:latin typeface="华文楷体" panose="02010600040101010101" pitchFamily="2" charset="-122"/>
                <a:ea typeface="华文楷体" panose="02010600040101010101" pitchFamily="2" charset="-122"/>
              </a:rPr>
              <a:t>for research</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当然内容肯定也很多，比如说  </a:t>
            </a:r>
            <a:r>
              <a:rPr lang="en-US" altLang="zh-CN" dirty="0">
                <a:latin typeface="华文楷体" panose="02010600040101010101" pitchFamily="2" charset="-122"/>
                <a:ea typeface="华文楷体" panose="02010600040101010101" pitchFamily="2" charset="-122"/>
              </a:rPr>
              <a:t>Pretrain</a:t>
            </a:r>
            <a:r>
              <a:rPr lang="zh-CN" altLang="en-US" dirty="0">
                <a:latin typeface="华文楷体" panose="02010600040101010101" pitchFamily="2" charset="-122"/>
                <a:ea typeface="华文楷体" panose="02010600040101010101" pitchFamily="2" charset="-122"/>
              </a:rPr>
              <a:t>，比如说 </a:t>
            </a:r>
            <a:r>
              <a:rPr lang="en-US" altLang="zh-CN" dirty="0" err="1">
                <a:latin typeface="华文楷体" panose="02010600040101010101" pitchFamily="2" charset="-122"/>
                <a:ea typeface="华文楷体" panose="02010600040101010101" pitchFamily="2" charset="-122"/>
              </a:rPr>
              <a:t>Posttrain</a:t>
            </a:r>
            <a:r>
              <a:rPr lang="zh-CN" altLang="en-US" dirty="0">
                <a:latin typeface="华文楷体" panose="02010600040101010101" pitchFamily="2" charset="-122"/>
                <a:ea typeface="华文楷体" panose="02010600040101010101" pitchFamily="2" charset="-122"/>
              </a:rPr>
              <a:t>，比如说 </a:t>
            </a:r>
            <a:r>
              <a:rPr lang="en-US" altLang="zh-CN" dirty="0">
                <a:latin typeface="华文楷体" panose="02010600040101010101" pitchFamily="2" charset="-122"/>
                <a:ea typeface="华文楷体" panose="02010600040101010101" pitchFamily="2" charset="-122"/>
              </a:rPr>
              <a:t>RL</a:t>
            </a:r>
          </a:p>
          <a:p>
            <a:r>
              <a:rPr lang="en-US" altLang="zh-CN" dirty="0">
                <a:latin typeface="华文楷体" panose="02010600040101010101" pitchFamily="2" charset="-122"/>
                <a:ea typeface="华文楷体" panose="02010600040101010101" pitchFamily="2" charset="-122"/>
              </a:rPr>
              <a:t>T1</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3DV</a:t>
            </a:r>
            <a:r>
              <a:rPr lang="zh-CN" altLang="en-US" dirty="0">
                <a:latin typeface="华文楷体" panose="02010600040101010101" pitchFamily="2" charset="-122"/>
                <a:ea typeface="华文楷体" panose="02010600040101010101" pitchFamily="2" charset="-122"/>
              </a:rPr>
              <a:t>、部分的表征学习、</a:t>
            </a:r>
            <a:r>
              <a:rPr lang="en-US" altLang="zh-CN" dirty="0">
                <a:latin typeface="华文楷体" panose="02010600040101010101" pitchFamily="2" charset="-122"/>
                <a:ea typeface="华文楷体" panose="02010600040101010101" pitchFamily="2" charset="-122"/>
              </a:rPr>
              <a:t>Optimizer</a:t>
            </a: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AI Safety</a:t>
            </a:r>
            <a:endParaRPr lang="en-US" altLang="zh-CN"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T?</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AI4S</a:t>
            </a:r>
          </a:p>
          <a:p>
            <a:pPr lvl="1"/>
            <a:r>
              <a:rPr lang="zh-CN" altLang="en-US" dirty="0">
                <a:latin typeface="华文楷体" panose="02010600040101010101" pitchFamily="2" charset="-122"/>
                <a:ea typeface="华文楷体" panose="02010600040101010101" pitchFamily="2" charset="-122"/>
              </a:rPr>
              <a:t>相较于其他的 </a:t>
            </a:r>
            <a:r>
              <a:rPr lang="en-US" altLang="zh-CN" dirty="0">
                <a:latin typeface="华文楷体" panose="02010600040101010101" pitchFamily="2" charset="-122"/>
                <a:ea typeface="华文楷体" panose="02010600040101010101" pitchFamily="2" charset="-122"/>
              </a:rPr>
              <a:t>AI </a:t>
            </a:r>
            <a:r>
              <a:rPr lang="zh-CN" altLang="en-US" dirty="0">
                <a:latin typeface="华文楷体" panose="02010600040101010101" pitchFamily="2" charset="-122"/>
                <a:ea typeface="华文楷体" panose="02010600040101010101" pitchFamily="2" charset="-122"/>
              </a:rPr>
              <a:t>领域主要在 </a:t>
            </a:r>
            <a:r>
              <a:rPr lang="en-US" altLang="zh-CN" dirty="0">
                <a:latin typeface="华文楷体" panose="02010600040101010101" pitchFamily="2" charset="-122"/>
                <a:ea typeface="华文楷体" panose="02010600040101010101" pitchFamily="2" charset="-122"/>
              </a:rPr>
              <a:t>AI </a:t>
            </a:r>
            <a:r>
              <a:rPr lang="zh-CN" altLang="en-US" dirty="0">
                <a:latin typeface="华文楷体" panose="02010600040101010101" pitchFamily="2" charset="-122"/>
                <a:ea typeface="华文楷体" panose="02010600040101010101" pitchFamily="2" charset="-122"/>
              </a:rPr>
              <a:t>赛道竞争，可能会主要在 </a:t>
            </a:r>
            <a:r>
              <a:rPr lang="en-US" altLang="zh-CN" dirty="0">
                <a:latin typeface="华文楷体" panose="02010600040101010101" pitchFamily="2" charset="-122"/>
                <a:ea typeface="华文楷体" panose="02010600040101010101" pitchFamily="2" charset="-122"/>
              </a:rPr>
              <a:t>Science </a:t>
            </a:r>
            <a:r>
              <a:rPr lang="zh-CN" altLang="en-US" dirty="0">
                <a:latin typeface="华文楷体" panose="02010600040101010101" pitchFamily="2" charset="-122"/>
                <a:ea typeface="华文楷体" panose="02010600040101010101" pitchFamily="2" charset="-122"/>
              </a:rPr>
              <a:t>赛道竞争</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66985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9FCF0-0FB5-CC7E-C496-BD35657A1D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69C3DD6-C8AF-927E-31A7-BAB43F9165EA}"/>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为什么你一定要使用 </a:t>
            </a:r>
            <a:r>
              <a:rPr lang="en-US" altLang="zh-CN" sz="3600" dirty="0">
                <a:latin typeface="华文楷体" panose="02010600040101010101" pitchFamily="2" charset="-122"/>
                <a:ea typeface="华文楷体" panose="02010600040101010101" pitchFamily="2" charset="-122"/>
              </a:rPr>
              <a:t>LLM </a:t>
            </a:r>
            <a:r>
              <a:rPr lang="zh-CN" altLang="en-US" sz="3600" dirty="0">
                <a:latin typeface="华文楷体" panose="02010600040101010101" pitchFamily="2" charset="-122"/>
                <a:ea typeface="华文楷体" panose="02010600040101010101" pitchFamily="2" charset="-122"/>
              </a:rPr>
              <a:t>来辅助你</a:t>
            </a:r>
          </a:p>
        </p:txBody>
      </p:sp>
      <p:sp>
        <p:nvSpPr>
          <p:cNvPr id="3" name="内容占位符 2">
            <a:extLst>
              <a:ext uri="{FF2B5EF4-FFF2-40B4-BE49-F238E27FC236}">
                <a16:creationId xmlns:a16="http://schemas.microsoft.com/office/drawing/2014/main" id="{8818D164-84C5-A82F-341D-74343786AB43}"/>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你需要高频的迭代，正常的课程以及老师以及书籍难以满足要求</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提问的艺术</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大多数时候，</a:t>
            </a:r>
            <a:r>
              <a:rPr lang="en-US" altLang="zh-CN" dirty="0">
                <a:latin typeface="华文楷体" panose="02010600040101010101" pitchFamily="2" charset="-122"/>
                <a:ea typeface="华文楷体" panose="02010600040101010101" pitchFamily="2" charset="-122"/>
              </a:rPr>
              <a:t>LLM </a:t>
            </a:r>
            <a:r>
              <a:rPr lang="zh-CN" altLang="en-US" dirty="0">
                <a:latin typeface="华文楷体" panose="02010600040101010101" pitchFamily="2" charset="-122"/>
                <a:ea typeface="华文楷体" panose="02010600040101010101" pitchFamily="2" charset="-122"/>
              </a:rPr>
              <a:t>比你的老师知道的知识面更广</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我们需要拓展知识的广度</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知识的深度在一些时候没有意义</a:t>
            </a:r>
            <a:endParaRPr lang="en-US" altLang="zh-CN"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C7593644-FE3A-27D6-4231-118E6C15C2B2}"/>
              </a:ext>
            </a:extLst>
          </p:cNvPr>
          <p:cNvPicPr>
            <a:picLocks noChangeAspect="1"/>
          </p:cNvPicPr>
          <p:nvPr/>
        </p:nvPicPr>
        <p:blipFill>
          <a:blip r:embed="rId2"/>
          <a:stretch>
            <a:fillRect/>
          </a:stretch>
        </p:blipFill>
        <p:spPr>
          <a:xfrm>
            <a:off x="7604310" y="3398415"/>
            <a:ext cx="2342883" cy="3459584"/>
          </a:xfrm>
          <a:prstGeom prst="rect">
            <a:avLst/>
          </a:prstGeom>
        </p:spPr>
      </p:pic>
      <p:pic>
        <p:nvPicPr>
          <p:cNvPr id="7" name="图片 6">
            <a:extLst>
              <a:ext uri="{FF2B5EF4-FFF2-40B4-BE49-F238E27FC236}">
                <a16:creationId xmlns:a16="http://schemas.microsoft.com/office/drawing/2014/main" id="{547F1EAA-57FF-37F3-3622-0C734E8060F4}"/>
              </a:ext>
            </a:extLst>
          </p:cNvPr>
          <p:cNvPicPr>
            <a:picLocks noChangeAspect="1"/>
          </p:cNvPicPr>
          <p:nvPr/>
        </p:nvPicPr>
        <p:blipFill>
          <a:blip r:embed="rId3"/>
          <a:stretch>
            <a:fillRect/>
          </a:stretch>
        </p:blipFill>
        <p:spPr>
          <a:xfrm>
            <a:off x="9947193" y="3429000"/>
            <a:ext cx="2244807" cy="1732876"/>
          </a:xfrm>
          <a:prstGeom prst="rect">
            <a:avLst/>
          </a:prstGeom>
        </p:spPr>
      </p:pic>
    </p:spTree>
    <p:extLst>
      <p:ext uri="{BB962C8B-B14F-4D97-AF65-F5344CB8AC3E}">
        <p14:creationId xmlns:p14="http://schemas.microsoft.com/office/powerpoint/2010/main" val="125265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CBC78-40F7-D3EF-8333-6C833A6515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F85BC0-DB9D-8CBB-71D9-678CF872E7D4}"/>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Agent </a:t>
            </a:r>
            <a:r>
              <a:rPr lang="zh-CN" altLang="en-US" sz="3600" dirty="0">
                <a:latin typeface="华文楷体" panose="02010600040101010101" pitchFamily="2" charset="-122"/>
                <a:ea typeface="华文楷体" panose="02010600040101010101" pitchFamily="2" charset="-122"/>
              </a:rPr>
              <a:t>的基础概念</a:t>
            </a:r>
          </a:p>
        </p:txBody>
      </p:sp>
      <p:sp>
        <p:nvSpPr>
          <p:cNvPr id="3" name="内容占位符 2">
            <a:extLst>
              <a:ext uri="{FF2B5EF4-FFF2-40B4-BE49-F238E27FC236}">
                <a16:creationId xmlns:a16="http://schemas.microsoft.com/office/drawing/2014/main" id="{636EADCB-C993-06CF-4771-A2CBE63AE629}"/>
              </a:ext>
            </a:extLst>
          </p:cNvPr>
          <p:cNvSpPr>
            <a:spLocks noGrp="1"/>
          </p:cNvSpPr>
          <p:nvPr>
            <p:ph idx="1"/>
          </p:nvPr>
        </p:nvSpPr>
        <p:spPr/>
        <p:txBody>
          <a:bodyPr/>
          <a:lstStyle/>
          <a:p>
            <a:r>
              <a:rPr lang="en-US" altLang="zh-CN" dirty="0">
                <a:latin typeface="华文楷体" panose="02010600040101010101" pitchFamily="2" charset="-122"/>
                <a:ea typeface="华文楷体" panose="02010600040101010101" pitchFamily="2" charset="-122"/>
              </a:rPr>
              <a:t>Model</a:t>
            </a:r>
            <a:r>
              <a:rPr lang="zh-CN" altLang="en-US" dirty="0">
                <a:latin typeface="华文楷体" panose="02010600040101010101" pitchFamily="2" charset="-122"/>
                <a:ea typeface="华文楷体" panose="02010600040101010101" pitchFamily="2" charset="-122"/>
              </a:rPr>
              <a:t>，本身一个模型，输入图像以及文本，输出文本</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把 </a:t>
            </a:r>
            <a:r>
              <a:rPr lang="en-US" altLang="zh-CN" dirty="0">
                <a:latin typeface="华文楷体" panose="02010600040101010101" pitchFamily="2" charset="-122"/>
                <a:ea typeface="华文楷体" panose="02010600040101010101" pitchFamily="2" charset="-122"/>
              </a:rPr>
              <a:t>Model </a:t>
            </a:r>
            <a:r>
              <a:rPr lang="zh-CN" altLang="en-US" dirty="0">
                <a:latin typeface="华文楷体" panose="02010600040101010101" pitchFamily="2" charset="-122"/>
                <a:ea typeface="华文楷体" panose="02010600040101010101" pitchFamily="2" charset="-122"/>
              </a:rPr>
              <a:t>进行套壳，并且在输入中包括以往的对话，就形成了一个简单的 </a:t>
            </a:r>
            <a:r>
              <a:rPr lang="en-US" altLang="zh-CN" dirty="0">
                <a:latin typeface="华文楷体" panose="02010600040101010101" pitchFamily="2" charset="-122"/>
                <a:ea typeface="华文楷体" panose="02010600040101010101" pitchFamily="2" charset="-122"/>
              </a:rPr>
              <a:t>Chatbot</a:t>
            </a:r>
          </a:p>
          <a:p>
            <a:r>
              <a:rPr lang="zh-CN" altLang="en-US" dirty="0">
                <a:latin typeface="华文楷体" panose="02010600040101010101" pitchFamily="2" charset="-122"/>
                <a:ea typeface="华文楷体" panose="02010600040101010101" pitchFamily="2" charset="-122"/>
              </a:rPr>
              <a:t>但是我们希望模型可以自己可以完成长程任务</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训练时数据，包括相关示例</a:t>
            </a:r>
            <a:endParaRPr lang="en-US" altLang="zh-CN" dirty="0">
              <a:latin typeface="华文楷体" panose="02010600040101010101" pitchFamily="2" charset="-122"/>
              <a:ea typeface="华文楷体" panose="02010600040101010101" pitchFamily="2" charset="-122"/>
            </a:endParaRPr>
          </a:p>
          <a:p>
            <a:pPr lvl="1"/>
            <a:r>
              <a:rPr lang="en-US" altLang="zh-CN" dirty="0">
                <a:latin typeface="华文楷体" panose="02010600040101010101" pitchFamily="2" charset="-122"/>
                <a:ea typeface="华文楷体" panose="02010600040101010101" pitchFamily="2" charset="-122"/>
              </a:rPr>
              <a:t>LLM Tool</a:t>
            </a:r>
            <a:r>
              <a:rPr lang="zh-CN" altLang="en-US" dirty="0">
                <a:latin typeface="华文楷体" panose="02010600040101010101" pitchFamily="2" charset="-122"/>
                <a:ea typeface="华文楷体" panose="02010600040101010101" pitchFamily="2" charset="-122"/>
              </a:rPr>
              <a:t>，如模型输出一个特定 </a:t>
            </a:r>
            <a:r>
              <a:rPr lang="en-US" altLang="zh-CN" dirty="0">
                <a:latin typeface="华文楷体" panose="02010600040101010101" pitchFamily="2" charset="-122"/>
                <a:ea typeface="华文楷体" panose="02010600040101010101" pitchFamily="2" charset="-122"/>
              </a:rPr>
              <a:t>Json </a:t>
            </a:r>
            <a:r>
              <a:rPr lang="zh-CN" altLang="en-US" dirty="0">
                <a:latin typeface="华文楷体" panose="02010600040101010101" pitchFamily="2" charset="-122"/>
                <a:ea typeface="华文楷体" panose="02010600040101010101" pitchFamily="2" charset="-122"/>
              </a:rPr>
              <a:t>的时候，</a:t>
            </a:r>
            <a:r>
              <a:rPr lang="en-US" altLang="zh-CN" dirty="0">
                <a:latin typeface="华文楷体" panose="02010600040101010101" pitchFamily="2" charset="-122"/>
                <a:ea typeface="华文楷体" panose="02010600040101010101" pitchFamily="2" charset="-122"/>
              </a:rPr>
              <a:t>{type: </a:t>
            </a:r>
            <a:r>
              <a:rPr lang="en-US" altLang="zh-CN" dirty="0" err="1">
                <a:latin typeface="华文楷体" panose="02010600040101010101" pitchFamily="2" charset="-122"/>
                <a:ea typeface="华文楷体" panose="02010600040101010101" pitchFamily="2" charset="-122"/>
              </a:rPr>
              <a:t>execute_cmd</a:t>
            </a:r>
            <a:r>
              <a:rPr lang="en-US" altLang="zh-CN" dirty="0">
                <a:latin typeface="华文楷体" panose="02010600040101010101" pitchFamily="2" charset="-122"/>
                <a:ea typeface="华文楷体" panose="02010600040101010101" pitchFamily="2" charset="-122"/>
              </a:rPr>
              <a:t>, content:</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rm</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–rf</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Agent </a:t>
            </a:r>
            <a:r>
              <a:rPr lang="zh-CN" altLang="en-US" dirty="0">
                <a:latin typeface="华文楷体" panose="02010600040101010101" pitchFamily="2" charset="-122"/>
                <a:ea typeface="华文楷体" panose="02010600040101010101" pitchFamily="2" charset="-122"/>
              </a:rPr>
              <a:t>框架可以执行内容并且返回结果给 </a:t>
            </a:r>
            <a:r>
              <a:rPr lang="en-US" altLang="zh-CN" dirty="0">
                <a:latin typeface="华文楷体" panose="02010600040101010101" pitchFamily="2" charset="-122"/>
                <a:ea typeface="华文楷体" panose="02010600040101010101" pitchFamily="2" charset="-122"/>
              </a:rPr>
              <a:t>Model </a:t>
            </a:r>
            <a:r>
              <a:rPr lang="zh-CN" altLang="en-US" dirty="0">
                <a:latin typeface="华文楷体" panose="02010600040101010101" pitchFamily="2" charset="-122"/>
                <a:ea typeface="华文楷体" panose="02010600040101010101" pitchFamily="2" charset="-122"/>
              </a:rPr>
              <a:t>以构成下一次对话</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很多的 </a:t>
            </a:r>
            <a:r>
              <a:rPr lang="en-US" altLang="zh-CN" dirty="0">
                <a:latin typeface="华文楷体" panose="02010600040101010101" pitchFamily="2" charset="-122"/>
                <a:ea typeface="华文楷体" panose="02010600040101010101" pitchFamily="2" charset="-122"/>
              </a:rPr>
              <a:t>Tool use </a:t>
            </a:r>
            <a:r>
              <a:rPr lang="zh-CN" altLang="en-US" dirty="0">
                <a:latin typeface="华文楷体" panose="02010600040101010101" pitchFamily="2" charset="-122"/>
                <a:ea typeface="华文楷体" panose="02010600040101010101" pitchFamily="2" charset="-122"/>
              </a:rPr>
              <a:t>使得模型可以执行很多的事情</a:t>
            </a:r>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697973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22811-ED76-8A34-BEDB-7FE6377117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B0F3AE-D088-1421-5CEC-5FD92E621AC9}"/>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Agent </a:t>
            </a:r>
            <a:r>
              <a:rPr lang="zh-CN" altLang="en-US" sz="3600" dirty="0">
                <a:latin typeface="华文楷体" panose="02010600040101010101" pitchFamily="2" charset="-122"/>
                <a:ea typeface="华文楷体" panose="02010600040101010101" pitchFamily="2" charset="-122"/>
              </a:rPr>
              <a:t>的基础概念</a:t>
            </a:r>
          </a:p>
        </p:txBody>
      </p:sp>
      <p:sp>
        <p:nvSpPr>
          <p:cNvPr id="3" name="内容占位符 2">
            <a:extLst>
              <a:ext uri="{FF2B5EF4-FFF2-40B4-BE49-F238E27FC236}">
                <a16:creationId xmlns:a16="http://schemas.microsoft.com/office/drawing/2014/main" id="{A4ABA699-1E8F-61AA-BE52-9A2F5B40D819}"/>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在输入信息过多的时候就需要上下文管理</a:t>
            </a:r>
            <a:endParaRPr lang="en-US" altLang="zh-CN"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Skill </a:t>
            </a:r>
            <a:r>
              <a:rPr lang="zh-CN" altLang="en-US" dirty="0">
                <a:latin typeface="华文楷体" panose="02010600040101010101" pitchFamily="2" charset="-122"/>
                <a:ea typeface="华文楷体" panose="02010600040101010101" pitchFamily="2" charset="-122"/>
              </a:rPr>
              <a:t>通过将一些只有特定场合才会使用的 </a:t>
            </a:r>
            <a:r>
              <a:rPr lang="en-US" altLang="zh-CN" dirty="0">
                <a:latin typeface="华文楷体" panose="02010600040101010101" pitchFamily="2" charset="-122"/>
                <a:ea typeface="华文楷体" panose="02010600040101010101" pitchFamily="2" charset="-122"/>
              </a:rPr>
              <a:t>Prompt </a:t>
            </a:r>
            <a:r>
              <a:rPr lang="zh-CN" altLang="en-US" dirty="0">
                <a:latin typeface="华文楷体" panose="02010600040101010101" pitchFamily="2" charset="-122"/>
                <a:ea typeface="华文楷体" panose="02010600040101010101" pitchFamily="2" charset="-122"/>
              </a:rPr>
              <a:t>放到一个文件里面来控制上下文</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综上就形成了一个 </a:t>
            </a:r>
            <a:r>
              <a:rPr lang="en-US" altLang="zh-CN" dirty="0">
                <a:latin typeface="华文楷体" panose="02010600040101010101" pitchFamily="2" charset="-122"/>
                <a:ea typeface="华文楷体" panose="02010600040101010101" pitchFamily="2" charset="-122"/>
              </a:rPr>
              <a:t>Agent</a:t>
            </a:r>
          </a:p>
          <a:p>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当前常见的 </a:t>
            </a:r>
            <a:r>
              <a:rPr lang="en-US" altLang="zh-CN" dirty="0">
                <a:latin typeface="华文楷体" panose="02010600040101010101" pitchFamily="2" charset="-122"/>
                <a:ea typeface="华文楷体" panose="02010600040101010101" pitchFamily="2" charset="-122"/>
              </a:rPr>
              <a:t>Agent </a:t>
            </a:r>
            <a:r>
              <a:rPr lang="zh-CN" altLang="en-US" dirty="0">
                <a:latin typeface="华文楷体" panose="02010600040101010101" pitchFamily="2" charset="-122"/>
                <a:ea typeface="华文楷体" panose="02010600040101010101" pitchFamily="2" charset="-122"/>
              </a:rPr>
              <a:t>可以分为两类，</a:t>
            </a:r>
            <a:r>
              <a:rPr lang="en-US" altLang="zh-CN" dirty="0">
                <a:latin typeface="华文楷体" panose="02010600040101010101" pitchFamily="2" charset="-122"/>
                <a:ea typeface="华文楷体" panose="02010600040101010101" pitchFamily="2" charset="-122"/>
              </a:rPr>
              <a:t>General Agent </a:t>
            </a:r>
            <a:r>
              <a:rPr lang="zh-CN" altLang="en-US" dirty="0">
                <a:latin typeface="华文楷体" panose="02010600040101010101" pitchFamily="2" charset="-122"/>
                <a:ea typeface="华文楷体" panose="02010600040101010101" pitchFamily="2" charset="-122"/>
              </a:rPr>
              <a:t>以及 </a:t>
            </a:r>
            <a:r>
              <a:rPr lang="en-US" altLang="zh-CN" dirty="0">
                <a:latin typeface="华文楷体" panose="02010600040101010101" pitchFamily="2" charset="-122"/>
                <a:ea typeface="华文楷体" panose="02010600040101010101" pitchFamily="2" charset="-122"/>
              </a:rPr>
              <a:t>Coding Agent</a:t>
            </a:r>
            <a:r>
              <a:rPr lang="zh-CN" altLang="en-US" dirty="0">
                <a:latin typeface="华文楷体" panose="02010600040101010101" pitchFamily="2" charset="-122"/>
                <a:ea typeface="华文楷体" panose="02010600040101010101" pitchFamily="2" charset="-122"/>
              </a:rPr>
              <a:t>，当然，二者的边界非常模糊</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122774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E4BB0-D348-B4E7-33EA-D47294BADD9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BAECBC-C83B-FEC9-8971-1D347AF43063}"/>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Agent </a:t>
            </a:r>
            <a:r>
              <a:rPr lang="zh-CN" altLang="en-US" sz="3600" dirty="0">
                <a:latin typeface="华文楷体" panose="02010600040101010101" pitchFamily="2" charset="-122"/>
                <a:ea typeface="华文楷体" panose="02010600040101010101" pitchFamily="2" charset="-122"/>
              </a:rPr>
              <a:t>时代其实是并行的时代</a:t>
            </a:r>
          </a:p>
        </p:txBody>
      </p:sp>
      <p:sp>
        <p:nvSpPr>
          <p:cNvPr id="3" name="内容占位符 2">
            <a:extLst>
              <a:ext uri="{FF2B5EF4-FFF2-40B4-BE49-F238E27FC236}">
                <a16:creationId xmlns:a16="http://schemas.microsoft.com/office/drawing/2014/main" id="{95551D02-8BDF-AD6A-2BD6-5C863E5F79DF}"/>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并行效率决定了你相较于别人的实力差距</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信息差</a:t>
            </a:r>
            <a:r>
              <a:rPr lang="en-US" altLang="zh-CN" dirty="0">
                <a:latin typeface="华文楷体" panose="02010600040101010101" pitchFamily="2" charset="-122"/>
                <a:ea typeface="华文楷体" panose="02010600040101010101" pitchFamily="2" charset="-122"/>
              </a:rPr>
              <a:t> = </a:t>
            </a:r>
            <a:r>
              <a:rPr lang="zh-CN" altLang="en-US" dirty="0">
                <a:latin typeface="华文楷体" panose="02010600040101010101" pitchFamily="2" charset="-122"/>
                <a:ea typeface="华文楷体" panose="02010600040101010101" pitchFamily="2" charset="-122"/>
              </a:rPr>
              <a:t>你在使用 </a:t>
            </a:r>
            <a:r>
              <a:rPr lang="en-US" altLang="zh-CN" dirty="0">
                <a:latin typeface="华文楷体" panose="02010600040101010101" pitchFamily="2" charset="-122"/>
                <a:ea typeface="华文楷体" panose="02010600040101010101" pitchFamily="2" charset="-122"/>
              </a:rPr>
              <a:t>Agent </a:t>
            </a:r>
            <a:r>
              <a:rPr lang="zh-CN" altLang="en-US" dirty="0">
                <a:latin typeface="华文楷体" panose="02010600040101010101" pitchFamily="2" charset="-122"/>
                <a:ea typeface="华文楷体" panose="02010600040101010101" pitchFamily="2" charset="-122"/>
              </a:rPr>
              <a:t>的时候别人没有使用带来的效率差距</a:t>
            </a:r>
            <a:endParaRPr lang="en-US" altLang="zh-CN"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TUI </a:t>
            </a:r>
            <a:r>
              <a:rPr lang="zh-CN" altLang="en-US" dirty="0">
                <a:latin typeface="华文楷体" panose="02010600040101010101" pitchFamily="2" charset="-122"/>
                <a:ea typeface="华文楷体" panose="02010600040101010101" pitchFamily="2" charset="-122"/>
              </a:rPr>
              <a:t>是一个好东西</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824310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D869-9D55-A530-E55F-62276CA2F81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498ABA3-40F4-04C2-6EBB-3339049D6202}"/>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一些除了简单的在 </a:t>
            </a:r>
            <a:r>
              <a:rPr lang="en-US" altLang="zh-CN" sz="3600" dirty="0">
                <a:latin typeface="华文楷体" panose="02010600040101010101" pitchFamily="2" charset="-122"/>
                <a:ea typeface="华文楷体" panose="02010600040101010101" pitchFamily="2" charset="-122"/>
              </a:rPr>
              <a:t>codebase </a:t>
            </a:r>
            <a:r>
              <a:rPr lang="zh-CN" altLang="en-US" sz="3600" dirty="0">
                <a:latin typeface="华文楷体" panose="02010600040101010101" pitchFamily="2" charset="-122"/>
                <a:ea typeface="华文楷体" panose="02010600040101010101" pitchFamily="2" charset="-122"/>
              </a:rPr>
              <a:t>里面操作之外的事</a:t>
            </a:r>
          </a:p>
        </p:txBody>
      </p:sp>
      <p:sp>
        <p:nvSpPr>
          <p:cNvPr id="3" name="内容占位符 2">
            <a:extLst>
              <a:ext uri="{FF2B5EF4-FFF2-40B4-BE49-F238E27FC236}">
                <a16:creationId xmlns:a16="http://schemas.microsoft.com/office/drawing/2014/main" id="{E100B649-8363-5175-CDF5-312416F07886}"/>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如何在一个 </a:t>
            </a:r>
            <a:r>
              <a:rPr lang="en-US" altLang="zh-CN" dirty="0">
                <a:latin typeface="华文楷体" panose="02010600040101010101" pitchFamily="2" charset="-122"/>
                <a:ea typeface="华文楷体" panose="02010600040101010101" pitchFamily="2" charset="-122"/>
              </a:rPr>
              <a:t>Codebase </a:t>
            </a:r>
            <a:r>
              <a:rPr lang="zh-CN" altLang="en-US" dirty="0">
                <a:latin typeface="华文楷体" panose="02010600040101010101" pitchFamily="2" charset="-122"/>
                <a:ea typeface="华文楷体" panose="02010600040101010101" pitchFamily="2" charset="-122"/>
              </a:rPr>
              <a:t>里面同时开发不同的 </a:t>
            </a:r>
            <a:r>
              <a:rPr lang="en-US" altLang="zh-CN" dirty="0">
                <a:latin typeface="华文楷体" panose="02010600040101010101" pitchFamily="2" charset="-122"/>
                <a:ea typeface="华文楷体" panose="02010600040101010101" pitchFamily="2" charset="-122"/>
              </a:rPr>
              <a:t>Feature</a:t>
            </a:r>
          </a:p>
          <a:p>
            <a:pPr lvl="1"/>
            <a:r>
              <a:rPr lang="en-US" altLang="zh-CN" dirty="0">
                <a:latin typeface="华文楷体" panose="02010600040101010101" pitchFamily="2" charset="-122"/>
                <a:ea typeface="华文楷体" panose="02010600040101010101" pitchFamily="2" charset="-122"/>
              </a:rPr>
              <a:t>Git </a:t>
            </a:r>
            <a:r>
              <a:rPr lang="en-US" altLang="zh-CN" dirty="0" err="1">
                <a:latin typeface="华文楷体" panose="02010600040101010101" pitchFamily="2" charset="-122"/>
                <a:ea typeface="华文楷体" panose="02010600040101010101" pitchFamily="2" charset="-122"/>
              </a:rPr>
              <a:t>Worktree</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如何使用 </a:t>
            </a:r>
            <a:r>
              <a:rPr lang="en-US" altLang="zh-CN" dirty="0">
                <a:latin typeface="华文楷体" panose="02010600040101010101" pitchFamily="2" charset="-122"/>
                <a:ea typeface="华文楷体" panose="02010600040101010101" pitchFamily="2" charset="-122"/>
              </a:rPr>
              <a:t>Agent </a:t>
            </a:r>
            <a:r>
              <a:rPr lang="zh-CN" altLang="en-US" dirty="0">
                <a:latin typeface="华文楷体" panose="02010600040101010101" pitchFamily="2" charset="-122"/>
                <a:ea typeface="华文楷体" panose="02010600040101010101" pitchFamily="2" charset="-122"/>
              </a:rPr>
              <a:t>来写论文</a:t>
            </a:r>
            <a:endParaRPr lang="en-US" altLang="zh-CN" dirty="0">
              <a:latin typeface="华文楷体" panose="02010600040101010101" pitchFamily="2" charset="-122"/>
              <a:ea typeface="华文楷体" panose="02010600040101010101" pitchFamily="2" charset="-122"/>
            </a:endParaRPr>
          </a:p>
          <a:p>
            <a:pPr lvl="1"/>
            <a:r>
              <a:rPr lang="en-US" altLang="zh-CN" dirty="0" err="1">
                <a:latin typeface="华文楷体" panose="02010600040101010101" pitchFamily="2" charset="-122"/>
                <a:ea typeface="华文楷体" panose="02010600040101010101" pitchFamily="2" charset="-122"/>
              </a:rPr>
              <a:t>VSCode</a:t>
            </a:r>
            <a:r>
              <a:rPr lang="en-US" altLang="zh-CN" dirty="0">
                <a:latin typeface="华文楷体" panose="02010600040101010101" pitchFamily="2" charset="-122"/>
                <a:ea typeface="华文楷体" panose="02010600040101010101" pitchFamily="2" charset="-122"/>
              </a:rPr>
              <a:t> + Overleaf Workshop + Codex/CC</a:t>
            </a:r>
          </a:p>
          <a:p>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49472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32C43-9B5E-84CF-EBB7-66103485EA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7B086D0-2F41-23BD-D781-870ECDAA2121}"/>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Agent </a:t>
            </a:r>
            <a:r>
              <a:rPr lang="zh-CN" altLang="en-US" sz="3600" dirty="0">
                <a:latin typeface="华文楷体" panose="02010600040101010101" pitchFamily="2" charset="-122"/>
                <a:ea typeface="华文楷体" panose="02010600040101010101" pitchFamily="2" charset="-122"/>
              </a:rPr>
              <a:t>后遗症</a:t>
            </a:r>
          </a:p>
        </p:txBody>
      </p:sp>
      <p:sp>
        <p:nvSpPr>
          <p:cNvPr id="3" name="内容占位符 2">
            <a:extLst>
              <a:ext uri="{FF2B5EF4-FFF2-40B4-BE49-F238E27FC236}">
                <a16:creationId xmlns:a16="http://schemas.microsoft.com/office/drawing/2014/main" id="{8BE652BB-61FA-D72D-F66F-12882CD8AEE4}"/>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常见问题之编程能力不足，成为了调用 </a:t>
            </a:r>
            <a:r>
              <a:rPr lang="en-US" altLang="zh-CN" dirty="0">
                <a:latin typeface="华文楷体" panose="02010600040101010101" pitchFamily="2" charset="-122"/>
                <a:ea typeface="华文楷体" panose="02010600040101010101" pitchFamily="2" charset="-122"/>
              </a:rPr>
              <a:t>Agent </a:t>
            </a:r>
            <a:r>
              <a:rPr lang="zh-CN" altLang="en-US" dirty="0">
                <a:latin typeface="华文楷体" panose="02010600040101010101" pitchFamily="2" charset="-122"/>
                <a:ea typeface="华文楷体" panose="02010600040101010101" pitchFamily="2" charset="-122"/>
              </a:rPr>
              <a:t>的工具人</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对于主线的项目来说，需要练习 </a:t>
            </a:r>
            <a:r>
              <a:rPr lang="en-US" altLang="zh-CN" dirty="0">
                <a:latin typeface="华文楷体" panose="02010600040101010101" pitchFamily="2" charset="-122"/>
                <a:ea typeface="华文楷体" panose="02010600040101010101" pitchFamily="2" charset="-122"/>
              </a:rPr>
              <a:t>Code Review </a:t>
            </a:r>
            <a:r>
              <a:rPr lang="zh-CN" altLang="en-US" dirty="0">
                <a:latin typeface="华文楷体" panose="02010600040101010101" pitchFamily="2" charset="-122"/>
                <a:ea typeface="华文楷体" panose="02010600040101010101" pitchFamily="2" charset="-122"/>
              </a:rPr>
              <a:t>能力</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别的来说，做好单元测试就好</a:t>
            </a:r>
            <a:r>
              <a:rPr lang="en-US" altLang="zh-CN" dirty="0">
                <a:latin typeface="华文楷体" panose="02010600040101010101" pitchFamily="2" charset="-122"/>
                <a:ea typeface="华文楷体" panose="02010600040101010101" pitchFamily="2" charset="-122"/>
              </a:rPr>
              <a:t>~Test-Driven Development</a:t>
            </a:r>
          </a:p>
          <a:p>
            <a:r>
              <a:rPr lang="zh-CN" altLang="en-US" dirty="0">
                <a:latin typeface="华文楷体" panose="02010600040101010101" pitchFamily="2" charset="-122"/>
                <a:ea typeface="华文楷体" panose="02010600040101010101" pitchFamily="2" charset="-122"/>
              </a:rPr>
              <a:t>如何才能算是充分利用了 </a:t>
            </a:r>
            <a:r>
              <a:rPr lang="en-US" altLang="zh-CN" dirty="0">
                <a:latin typeface="华文楷体" panose="02010600040101010101" pitchFamily="2" charset="-122"/>
                <a:ea typeface="华文楷体" panose="02010600040101010101" pitchFamily="2" charset="-122"/>
              </a:rPr>
              <a:t>Agent</a:t>
            </a:r>
          </a:p>
          <a:p>
            <a:pPr lvl="1"/>
            <a:r>
              <a:rPr lang="zh-CN" altLang="en-US" dirty="0">
                <a:latin typeface="华文楷体" panose="02010600040101010101" pitchFamily="2" charset="-122"/>
                <a:ea typeface="华文楷体" panose="02010600040101010101" pitchFamily="2" charset="-122"/>
              </a:rPr>
              <a:t>你的 </a:t>
            </a:r>
            <a:r>
              <a:rPr lang="en-US" altLang="zh-CN" dirty="0">
                <a:latin typeface="华文楷体" panose="02010600040101010101" pitchFamily="2" charset="-122"/>
                <a:ea typeface="华文楷体" panose="02010600040101010101" pitchFamily="2" charset="-122"/>
              </a:rPr>
              <a:t>Bottleneck </a:t>
            </a:r>
            <a:r>
              <a:rPr lang="zh-CN" altLang="en-US">
                <a:latin typeface="华文楷体" panose="02010600040101010101" pitchFamily="2" charset="-122"/>
                <a:ea typeface="华文楷体" panose="02010600040101010101" pitchFamily="2" charset="-122"/>
              </a:rPr>
              <a:t>在于算力而非工作量的时候</a:t>
            </a:r>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1338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3836C-CE8D-98D9-6B6E-F362D0FAE1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CD77CF-8949-4FEE-7B39-3677CFFF9E54}"/>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领域内的 </a:t>
            </a:r>
            <a:r>
              <a:rPr lang="en-US" altLang="zh-CN" sz="3600" dirty="0">
                <a:latin typeface="华文楷体" panose="02010600040101010101" pitchFamily="2" charset="-122"/>
                <a:ea typeface="华文楷体" panose="02010600040101010101" pitchFamily="2" charset="-122"/>
              </a:rPr>
              <a:t>Paper Scaling Law</a:t>
            </a:r>
            <a:endParaRPr lang="zh-CN" altLang="en-US" sz="3600" dirty="0">
              <a:latin typeface="华文楷体" panose="02010600040101010101" pitchFamily="2" charset="-122"/>
              <a:ea typeface="华文楷体" panose="02010600040101010101" pitchFamily="2" charset="-122"/>
            </a:endParaRPr>
          </a:p>
        </p:txBody>
      </p:sp>
      <p:sp>
        <p:nvSpPr>
          <p:cNvPr id="3" name="内容占位符 2">
            <a:extLst>
              <a:ext uri="{FF2B5EF4-FFF2-40B4-BE49-F238E27FC236}">
                <a16:creationId xmlns:a16="http://schemas.microsoft.com/office/drawing/2014/main" id="{B41DF5C6-4952-B1F1-1944-95937759752A}"/>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配置常见的 </a:t>
            </a:r>
            <a:r>
              <a:rPr lang="en-US" altLang="zh-CN" dirty="0">
                <a:latin typeface="华文楷体" panose="02010600040101010101" pitchFamily="2" charset="-122"/>
                <a:ea typeface="华文楷体" panose="02010600040101010101" pitchFamily="2" charset="-122"/>
              </a:rPr>
              <a:t>Benchmark </a:t>
            </a:r>
            <a:r>
              <a:rPr lang="zh-CN" altLang="en-US" dirty="0">
                <a:latin typeface="华文楷体" panose="02010600040101010101" pitchFamily="2" charset="-122"/>
                <a:ea typeface="华文楷体" panose="02010600040101010101" pitchFamily="2" charset="-122"/>
              </a:rPr>
              <a:t>并且跑通 </a:t>
            </a:r>
            <a:r>
              <a:rPr lang="en-US" altLang="zh-CN" dirty="0">
                <a:latin typeface="华文楷体" panose="02010600040101010101" pitchFamily="2" charset="-122"/>
                <a:ea typeface="华文楷体" panose="02010600040101010101" pitchFamily="2" charset="-122"/>
              </a:rPr>
              <a:t>Baseline</a:t>
            </a:r>
          </a:p>
          <a:p>
            <a:pPr lvl="1"/>
            <a:r>
              <a:rPr lang="zh-CN" altLang="en-US" dirty="0">
                <a:latin typeface="华文楷体" panose="02010600040101010101" pitchFamily="2" charset="-122"/>
                <a:ea typeface="华文楷体" panose="02010600040101010101" pitchFamily="2" charset="-122"/>
              </a:rPr>
              <a:t>可以拥有一次准确的闭环迭代</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将训测一次性执行完的脚本整理为一个脚本</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标准化闭环流程</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使用 </a:t>
            </a:r>
            <a:r>
              <a:rPr lang="en-US" altLang="zh-CN" dirty="0">
                <a:latin typeface="华文楷体" panose="02010600040101010101" pitchFamily="2" charset="-122"/>
                <a:ea typeface="华文楷体" panose="02010600040101010101" pitchFamily="2" charset="-122"/>
              </a:rPr>
              <a:t>Agent </a:t>
            </a:r>
            <a:r>
              <a:rPr lang="zh-CN" altLang="en-US" dirty="0">
                <a:latin typeface="华文楷体" panose="02010600040101010101" pitchFamily="2" charset="-122"/>
                <a:ea typeface="华文楷体" panose="02010600040101010101" pitchFamily="2" charset="-122"/>
              </a:rPr>
              <a:t>标准化 </a:t>
            </a:r>
            <a:r>
              <a:rPr lang="en-US" altLang="zh-CN" dirty="0">
                <a:latin typeface="华文楷体" panose="02010600040101010101" pitchFamily="2" charset="-122"/>
                <a:ea typeface="华文楷体" panose="02010600040101010101" pitchFamily="2" charset="-122"/>
              </a:rPr>
              <a:t>Baseline </a:t>
            </a:r>
            <a:r>
              <a:rPr lang="zh-CN" altLang="en-US" dirty="0">
                <a:latin typeface="华文楷体" panose="02010600040101010101" pitchFamily="2" charset="-122"/>
                <a:ea typeface="华文楷体" panose="02010600040101010101" pitchFamily="2" charset="-122"/>
              </a:rPr>
              <a:t>代码</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解耦 </a:t>
            </a:r>
            <a:r>
              <a:rPr lang="en-US" altLang="zh-CN"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Framework 2) Forward 3) Loss</a:t>
            </a:r>
          </a:p>
          <a:p>
            <a:pPr lvl="1"/>
            <a:r>
              <a:rPr lang="zh-CN" altLang="en-US" dirty="0">
                <a:latin typeface="华文楷体" panose="02010600040101010101" pitchFamily="2" charset="-122"/>
                <a:ea typeface="华文楷体" panose="02010600040101010101" pitchFamily="2" charset="-122"/>
              </a:rPr>
              <a:t>用标准化后的代码复现 </a:t>
            </a:r>
            <a:r>
              <a:rPr lang="en-US" altLang="zh-CN" dirty="0">
                <a:latin typeface="华文楷体" panose="02010600040101010101" pitchFamily="2" charset="-122"/>
                <a:ea typeface="华文楷体" panose="02010600040101010101" pitchFamily="2" charset="-122"/>
              </a:rPr>
              <a:t>Baseline</a:t>
            </a:r>
          </a:p>
          <a:p>
            <a:r>
              <a:rPr lang="zh-CN" altLang="en-US" dirty="0">
                <a:latin typeface="华文楷体" panose="02010600040101010101" pitchFamily="2" charset="-122"/>
                <a:ea typeface="华文楷体" panose="02010600040101010101" pitchFamily="2" charset="-122"/>
              </a:rPr>
              <a:t>复制无数的文件，枚举不同的模型结构以及不同的方法，使用标准化流程记录实现，打满算力利用率</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600713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F5DF8-E2FA-389D-DAA0-C6B3BF15BC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97F802-DA49-3080-AC09-7783E2937BFD}"/>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Why</a:t>
            </a:r>
            <a:r>
              <a:rPr lang="zh-CN" altLang="en-US" sz="3600" dirty="0">
                <a:latin typeface="华文楷体" panose="02010600040101010101" pitchFamily="2" charset="-122"/>
                <a:ea typeface="华文楷体" panose="02010600040101010101" pitchFamily="2" charset="-122"/>
              </a:rPr>
              <a:t>？</a:t>
            </a:r>
          </a:p>
        </p:txBody>
      </p:sp>
      <p:sp>
        <p:nvSpPr>
          <p:cNvPr id="3" name="内容占位符 2">
            <a:extLst>
              <a:ext uri="{FF2B5EF4-FFF2-40B4-BE49-F238E27FC236}">
                <a16:creationId xmlns:a16="http://schemas.microsoft.com/office/drawing/2014/main" id="{E5F095FB-7B20-C178-211F-68580B05E095}"/>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问题是有限的</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解法存在很多，但是哪一个是正确的或者相对正确的不清楚</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科研本质上是在执行枚举法</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低情商：</a:t>
            </a:r>
            <a:r>
              <a:rPr lang="en-US" altLang="zh-CN" dirty="0">
                <a:latin typeface="华文楷体" panose="02010600040101010101" pitchFamily="2" charset="-122"/>
                <a:ea typeface="华文楷体" panose="02010600040101010101" pitchFamily="2" charset="-122"/>
              </a:rPr>
              <a:t>Incremental</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高情商：</a:t>
            </a:r>
            <a:r>
              <a:rPr lang="en-US" altLang="zh-CN" dirty="0">
                <a:latin typeface="华文楷体" panose="02010600040101010101" pitchFamily="2" charset="-122"/>
                <a:ea typeface="华文楷体" panose="02010600040101010101" pitchFamily="2" charset="-122"/>
              </a:rPr>
              <a:t>Solid</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88305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74D39-3503-3503-B35B-2A0DC0D84F2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977A2B9-2138-2742-46B0-ABBA3FFF82D1}"/>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什么时候足够了</a:t>
            </a:r>
          </a:p>
        </p:txBody>
      </p:sp>
      <p:sp>
        <p:nvSpPr>
          <p:cNvPr id="3" name="内容占位符 2">
            <a:extLst>
              <a:ext uri="{FF2B5EF4-FFF2-40B4-BE49-F238E27FC236}">
                <a16:creationId xmlns:a16="http://schemas.microsoft.com/office/drawing/2014/main" id="{5B42FE61-34A6-8BBF-B84E-32BFDD254F7E}"/>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当你认为自己足够了的时候</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7286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D9F56-3949-3382-C580-3607D89AC3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023569C-3529-1C2D-B2A3-4520B12F50C6}"/>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利用你的影响力，而不是利用你的执行力</a:t>
            </a:r>
          </a:p>
        </p:txBody>
      </p:sp>
      <p:sp>
        <p:nvSpPr>
          <p:cNvPr id="3" name="内容占位符 2">
            <a:extLst>
              <a:ext uri="{FF2B5EF4-FFF2-40B4-BE49-F238E27FC236}">
                <a16:creationId xmlns:a16="http://schemas.microsoft.com/office/drawing/2014/main" id="{E568513A-1DEC-6C83-815E-1CF5DF12376E}"/>
              </a:ext>
            </a:extLst>
          </p:cNvPr>
          <p:cNvSpPr>
            <a:spLocks noGrp="1"/>
          </p:cNvSpPr>
          <p:nvPr>
            <p:ph idx="1"/>
          </p:nvPr>
        </p:nvSpPr>
        <p:spPr/>
        <p:txBody>
          <a:bodyPr/>
          <a:lstStyle/>
          <a:p>
            <a:r>
              <a:rPr lang="en-US" altLang="zh-CN" dirty="0">
                <a:latin typeface="华文楷体" panose="02010600040101010101" pitchFamily="2" charset="-122"/>
                <a:ea typeface="华文楷体" panose="02010600040101010101" pitchFamily="2" charset="-122"/>
              </a:rPr>
              <a:t>Coding Agent </a:t>
            </a:r>
            <a:r>
              <a:rPr lang="zh-CN" altLang="en-US" dirty="0">
                <a:latin typeface="华文楷体" panose="02010600040101010101" pitchFamily="2" charset="-122"/>
                <a:ea typeface="华文楷体" panose="02010600040101010101" pitchFamily="2" charset="-122"/>
              </a:rPr>
              <a:t>可以飞速的覆盖掉很多的生产力场景</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未来或许是属于那些知名的人</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830574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AE420-704D-98B7-7967-65515618437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76BC07D-2642-7729-AD60-353A237AB396}"/>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这也是为什么 </a:t>
            </a:r>
            <a:r>
              <a:rPr lang="en-US" altLang="zh-CN" sz="3600" dirty="0">
                <a:latin typeface="华文楷体" panose="02010600040101010101" pitchFamily="2" charset="-122"/>
                <a:ea typeface="华文楷体" panose="02010600040101010101" pitchFamily="2" charset="-122"/>
              </a:rPr>
              <a:t>Tech Report </a:t>
            </a:r>
            <a:r>
              <a:rPr lang="zh-CN" altLang="en-US" sz="3600" dirty="0">
                <a:latin typeface="华文楷体" panose="02010600040101010101" pitchFamily="2" charset="-122"/>
                <a:ea typeface="华文楷体" panose="02010600040101010101" pitchFamily="2" charset="-122"/>
              </a:rPr>
              <a:t>和开源项目很好</a:t>
            </a:r>
          </a:p>
        </p:txBody>
      </p:sp>
      <p:sp>
        <p:nvSpPr>
          <p:cNvPr id="3" name="内容占位符 2">
            <a:extLst>
              <a:ext uri="{FF2B5EF4-FFF2-40B4-BE49-F238E27FC236}">
                <a16:creationId xmlns:a16="http://schemas.microsoft.com/office/drawing/2014/main" id="{84D66A92-840D-1943-3113-7B16B2D0A55D}"/>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社区影响力</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充分的做枚举法的理由</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参与</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组织大型项目的能力</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更多的迭代经验，而不是基于别人的内容进行 </a:t>
            </a:r>
            <a:r>
              <a:rPr lang="en-US" altLang="zh-CN" dirty="0">
                <a:latin typeface="华文楷体" panose="02010600040101010101" pitchFamily="2" charset="-122"/>
                <a:ea typeface="华文楷体" panose="02010600040101010101" pitchFamily="2" charset="-122"/>
              </a:rPr>
              <a:t>incremental </a:t>
            </a:r>
            <a:r>
              <a:rPr lang="zh-CN" altLang="en-US" dirty="0">
                <a:latin typeface="华文楷体" panose="02010600040101010101" pitchFamily="2" charset="-122"/>
                <a:ea typeface="华文楷体" panose="02010600040101010101" pitchFamily="2" charset="-122"/>
              </a:rPr>
              <a:t>修改</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521376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EE63B-AE58-C5DD-159B-D99A8DEC50E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8F6403-1D98-4275-7377-26ABB8F13DB9}"/>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The Bitter Lesson/</a:t>
            </a:r>
            <a:r>
              <a:rPr lang="zh-CN" altLang="en-US" sz="3600" dirty="0">
                <a:latin typeface="华文楷体" panose="02010600040101010101" pitchFamily="2" charset="-122"/>
                <a:ea typeface="华文楷体" panose="02010600040101010101" pitchFamily="2" charset="-122"/>
              </a:rPr>
              <a:t>苦涩的教训</a:t>
            </a:r>
          </a:p>
        </p:txBody>
      </p:sp>
      <p:sp>
        <p:nvSpPr>
          <p:cNvPr id="3" name="内容占位符 2">
            <a:extLst>
              <a:ext uri="{FF2B5EF4-FFF2-40B4-BE49-F238E27FC236}">
                <a16:creationId xmlns:a16="http://schemas.microsoft.com/office/drawing/2014/main" id="{776A2427-99C2-798C-BE65-A6C855982F8C}"/>
              </a:ext>
            </a:extLst>
          </p:cNvPr>
          <p:cNvSpPr>
            <a:spLocks noGrp="1"/>
          </p:cNvSpPr>
          <p:nvPr>
            <p:ph idx="1"/>
          </p:nvPr>
        </p:nvSpPr>
        <p:spPr/>
        <p:txBody>
          <a:bodyPr/>
          <a:lstStyle/>
          <a:p>
            <a:r>
              <a:rPr lang="en-US" altLang="zh-CN" dirty="0">
                <a:latin typeface="华文楷体" panose="02010600040101010101" pitchFamily="2" charset="-122"/>
                <a:ea typeface="华文楷体" panose="02010600040101010101" pitchFamily="2" charset="-122"/>
              </a:rPr>
              <a:t>https://www.cs.utexas.edu/~eunsol/courses/data/bitter_lesson.pdf</a:t>
            </a:r>
          </a:p>
          <a:p>
            <a:r>
              <a:rPr lang="en-US" altLang="zh-CN" dirty="0">
                <a:latin typeface="华文楷体" panose="02010600040101010101" pitchFamily="2" charset="-122"/>
                <a:ea typeface="华文楷体" panose="02010600040101010101" pitchFamily="2" charset="-122"/>
              </a:rPr>
              <a:t>General methods that leverage computation are ultimately the most effective, and by a large margin. The ultimate reason for this is Moore's law, or rather its generalization of continued exponentially falling cost per unit of computation.</a:t>
            </a:r>
          </a:p>
          <a:p>
            <a:pPr lvl="1"/>
            <a:r>
              <a:rPr lang="zh-CN" altLang="en-US" b="1" dirty="0">
                <a:latin typeface="华文楷体" panose="02010600040101010101" pitchFamily="2" charset="-122"/>
                <a:ea typeface="华文楷体" panose="02010600040101010101" pitchFamily="2" charset="-122"/>
              </a:rPr>
              <a:t>利用计算的通用方法最终是最有效的，而且优势巨大。</a:t>
            </a:r>
            <a:r>
              <a:rPr lang="zh-CN" altLang="en-US" dirty="0">
                <a:latin typeface="华文楷体" panose="02010600040101010101" pitchFamily="2" charset="-122"/>
                <a:ea typeface="华文楷体" panose="02010600040101010101" pitchFamily="2" charset="-122"/>
              </a:rPr>
              <a:t>其根本原因在于 摩尔定律，更准确地说，是计算单位成本持续指数级下降这一更一般的规律。</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105187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10BB-08F0-94EF-4006-559F1D8322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00F23C-2800-134A-A22C-55BF535BF943}"/>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The Bitter Lesson/</a:t>
            </a:r>
            <a:r>
              <a:rPr lang="zh-CN" altLang="en-US" sz="3600" dirty="0">
                <a:latin typeface="华文楷体" panose="02010600040101010101" pitchFamily="2" charset="-122"/>
                <a:ea typeface="华文楷体" panose="02010600040101010101" pitchFamily="2" charset="-122"/>
              </a:rPr>
              <a:t>苦涩的教训</a:t>
            </a:r>
          </a:p>
        </p:txBody>
      </p:sp>
      <p:sp>
        <p:nvSpPr>
          <p:cNvPr id="3" name="内容占位符 2">
            <a:extLst>
              <a:ext uri="{FF2B5EF4-FFF2-40B4-BE49-F238E27FC236}">
                <a16:creationId xmlns:a16="http://schemas.microsoft.com/office/drawing/2014/main" id="{1AE80F8C-56CF-3CB4-6C42-5423C2019FC6}"/>
              </a:ext>
            </a:extLst>
          </p:cNvPr>
          <p:cNvSpPr>
            <a:spLocks noGrp="1"/>
          </p:cNvSpPr>
          <p:nvPr>
            <p:ph idx="1"/>
          </p:nvPr>
        </p:nvSpPr>
        <p:spPr/>
        <p:txBody>
          <a:bodyPr>
            <a:normAutofit fontScale="92500" lnSpcReduction="10000"/>
          </a:bodyPr>
          <a:lstStyle/>
          <a:p>
            <a:r>
              <a:rPr lang="en-US" altLang="zh-CN" dirty="0">
                <a:latin typeface="华文楷体" panose="02010600040101010101" pitchFamily="2" charset="-122"/>
                <a:ea typeface="华文楷体" panose="02010600040101010101" pitchFamily="2" charset="-122"/>
              </a:rPr>
              <a:t>This is a big lesson. As a field, we still have not thoroughly learned it, as we are continuing to make the same kind of mistakes. To see this, and to effectively resist it, we have to understand the appeal of these mistakes. We have to learn the bitter lesson that building in how we think we think does not work in the long run. The bitter lesson is based on the historical observations that 1) AI researchers have often tried to build knowledge into their agents, 2) this always helps in the short term, and is personally satisfying to the researcher, but 3) in the long run it plateaus and even inhibits further progress, and 4) breakthrough progress eventually arrives by an opposing approach based on scaling computation by search and learning. The eventual success is tinged with bitterness, and often incompletely digested, because it is success over a favored, human-centric approach. </a:t>
            </a:r>
          </a:p>
        </p:txBody>
      </p:sp>
    </p:spTree>
    <p:extLst>
      <p:ext uri="{BB962C8B-B14F-4D97-AF65-F5344CB8AC3E}">
        <p14:creationId xmlns:p14="http://schemas.microsoft.com/office/powerpoint/2010/main" val="2346643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54E1E-EFFD-3CC8-1A72-EFA464C7E9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5EFCA03-0A08-8463-2C4A-47CE47675F9D}"/>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The Bitter Lesson/</a:t>
            </a:r>
            <a:r>
              <a:rPr lang="zh-CN" altLang="en-US" sz="3600" dirty="0">
                <a:latin typeface="华文楷体" panose="02010600040101010101" pitchFamily="2" charset="-122"/>
                <a:ea typeface="华文楷体" panose="02010600040101010101" pitchFamily="2" charset="-122"/>
              </a:rPr>
              <a:t>苦涩的教训</a:t>
            </a:r>
          </a:p>
        </p:txBody>
      </p:sp>
      <p:sp>
        <p:nvSpPr>
          <p:cNvPr id="3" name="内容占位符 2">
            <a:extLst>
              <a:ext uri="{FF2B5EF4-FFF2-40B4-BE49-F238E27FC236}">
                <a16:creationId xmlns:a16="http://schemas.microsoft.com/office/drawing/2014/main" id="{338F0761-8FAC-E944-AEE7-48167F181384}"/>
              </a:ext>
            </a:extLst>
          </p:cNvPr>
          <p:cNvSpPr>
            <a:spLocks noGrp="1"/>
          </p:cNvSpPr>
          <p:nvPr>
            <p:ph idx="1"/>
          </p:nvPr>
        </p:nvSpPr>
        <p:spPr/>
        <p:txBody>
          <a:bodyPr>
            <a:normAutofit lnSpcReduction="10000"/>
          </a:bodyPr>
          <a:lstStyle/>
          <a:p>
            <a:r>
              <a:rPr lang="zh-CN" altLang="en-US" dirty="0">
                <a:latin typeface="华文楷体" panose="02010600040101010101" pitchFamily="2" charset="-122"/>
                <a:ea typeface="华文楷体" panose="02010600040101010101" pitchFamily="2" charset="-122"/>
              </a:rPr>
              <a:t>这是一个重要的教训。作为一个领域，我们仍然没有彻底吸取这一教训，因为我们仍在不断犯类似的错误。要看到这一点并有效抵制它，我们必须理解这些错误的吸引力。我们必须认识到这一苦涩教训：把我们认为自己如何思考的方式硬编码进去，从长远来看是行不通的。这一苦涩教训基于以下历史观察：</a:t>
            </a:r>
            <a:r>
              <a:rPr lang="en-US" altLang="zh-CN"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）人工智能研究者经常试图将知识构建进他们的智能体中；</a:t>
            </a:r>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）这在短期内总是有效，并且对研究者来说具有个人上的满足感；</a:t>
            </a:r>
            <a:r>
              <a:rPr lang="en-US" altLang="zh-CN" dirty="0">
                <a:latin typeface="华文楷体" panose="02010600040101010101" pitchFamily="2" charset="-122"/>
                <a:ea typeface="华文楷体" panose="02010600040101010101" pitchFamily="2" charset="-122"/>
              </a:rPr>
              <a:t>3</a:t>
            </a:r>
            <a:r>
              <a:rPr lang="zh-CN" altLang="en-US" dirty="0">
                <a:latin typeface="华文楷体" panose="02010600040101010101" pitchFamily="2" charset="-122"/>
                <a:ea typeface="华文楷体" panose="02010600040101010101" pitchFamily="2" charset="-122"/>
              </a:rPr>
              <a:t>）但从长期来看，这种方法会达到瓶颈，甚至阻碍进一步进展；</a:t>
            </a:r>
            <a:r>
              <a:rPr lang="en-US" altLang="zh-CN" dirty="0">
                <a:latin typeface="华文楷体" panose="02010600040101010101" pitchFamily="2" charset="-122"/>
                <a:ea typeface="华文楷体" panose="02010600040101010101" pitchFamily="2" charset="-122"/>
              </a:rPr>
              <a:t>4</a:t>
            </a:r>
            <a:r>
              <a:rPr lang="zh-CN" altLang="en-US" dirty="0">
                <a:latin typeface="华文楷体" panose="02010600040101010101" pitchFamily="2" charset="-122"/>
                <a:ea typeface="华文楷体" panose="02010600040101010101" pitchFamily="2" charset="-122"/>
              </a:rPr>
              <a:t>）而突破性的进展最终来自于相反的方法，即通过搜索和学习扩展计算规模。这种最终的成功往往带有一丝苦涩，而且常常未被完全吸收，因为它是对研究者所偏好的、以人为中心的方法的一种胜利。</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32520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E85CA-5F33-BA45-2CB5-9792E2EF7E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DBBA0DD-E314-2184-1363-8BB2432F3CE5}"/>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The Bitter Lesson/</a:t>
            </a:r>
            <a:r>
              <a:rPr lang="zh-CN" altLang="en-US" sz="3600" dirty="0">
                <a:latin typeface="华文楷体" panose="02010600040101010101" pitchFamily="2" charset="-122"/>
                <a:ea typeface="华文楷体" panose="02010600040101010101" pitchFamily="2" charset="-122"/>
              </a:rPr>
              <a:t>苦涩的教训</a:t>
            </a:r>
          </a:p>
        </p:txBody>
      </p:sp>
      <p:sp>
        <p:nvSpPr>
          <p:cNvPr id="3" name="内容占位符 2">
            <a:extLst>
              <a:ext uri="{FF2B5EF4-FFF2-40B4-BE49-F238E27FC236}">
                <a16:creationId xmlns:a16="http://schemas.microsoft.com/office/drawing/2014/main" id="{36442977-06F2-2C82-3FDC-898073864160}"/>
              </a:ext>
            </a:extLst>
          </p:cNvPr>
          <p:cNvSpPr>
            <a:spLocks noGrp="1"/>
          </p:cNvSpPr>
          <p:nvPr>
            <p:ph idx="1"/>
          </p:nvPr>
        </p:nvSpPr>
        <p:spPr/>
        <p:txBody>
          <a:bodyPr>
            <a:normAutofit/>
          </a:bodyPr>
          <a:lstStyle/>
          <a:p>
            <a:r>
              <a:rPr lang="zh-CN" altLang="en-US" dirty="0">
                <a:latin typeface="华文楷体" panose="02010600040101010101" pitchFamily="2" charset="-122"/>
                <a:ea typeface="华文楷体" panose="02010600040101010101" pitchFamily="2" charset="-122"/>
              </a:rPr>
              <a:t>从这一苦涩教训中应当学到的一点，是通用方法的巨大力量</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那些能够随着可用计算不断增长而持续扩展的方法。其中看起来可以无限扩展的两类方法是</a:t>
            </a:r>
            <a:r>
              <a:rPr lang="zh-CN" altLang="en-US" b="1" dirty="0">
                <a:latin typeface="华文楷体" panose="02010600040101010101" pitchFamily="2" charset="-122"/>
                <a:ea typeface="华文楷体" panose="02010600040101010101" pitchFamily="2" charset="-122"/>
              </a:rPr>
              <a:t>搜索和学习</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000442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43CEB-26FC-B68A-7768-879F353332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698B660-B32F-641F-DC60-5E327E1E6AFE}"/>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苦涩的苦涩的教训</a:t>
            </a:r>
          </a:p>
        </p:txBody>
      </p:sp>
      <p:sp>
        <p:nvSpPr>
          <p:cNvPr id="3" name="内容占位符 2">
            <a:extLst>
              <a:ext uri="{FF2B5EF4-FFF2-40B4-BE49-F238E27FC236}">
                <a16:creationId xmlns:a16="http://schemas.microsoft.com/office/drawing/2014/main" id="{C75E8DBD-43D9-A4B1-8021-746EDAD6881C}"/>
              </a:ext>
            </a:extLst>
          </p:cNvPr>
          <p:cNvSpPr>
            <a:spLocks noGrp="1"/>
          </p:cNvSpPr>
          <p:nvPr>
            <p:ph idx="1"/>
          </p:nvPr>
        </p:nvSpPr>
        <p:spPr/>
        <p:txBody>
          <a:bodyPr>
            <a:normAutofit/>
          </a:bodyPr>
          <a:lstStyle/>
          <a:p>
            <a:r>
              <a:rPr lang="en-US" altLang="zh-CN" dirty="0">
                <a:latin typeface="华文楷体" panose="02010600040101010101" pitchFamily="2" charset="-122"/>
                <a:ea typeface="华文楷体" panose="02010600040101010101" pitchFamily="2" charset="-122"/>
              </a:rPr>
              <a:t>Scalable </a:t>
            </a:r>
            <a:r>
              <a:rPr lang="zh-CN" altLang="en-US" dirty="0">
                <a:latin typeface="华文楷体" panose="02010600040101010101" pitchFamily="2" charset="-122"/>
                <a:ea typeface="华文楷体" panose="02010600040101010101" pitchFamily="2" charset="-122"/>
              </a:rPr>
              <a:t>的方向往往是正确的</a:t>
            </a:r>
            <a:endParaRPr lang="en-US" altLang="zh-CN"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Scalable </a:t>
            </a:r>
            <a:r>
              <a:rPr lang="zh-CN" altLang="en-US" dirty="0">
                <a:latin typeface="华文楷体" panose="02010600040101010101" pitchFamily="2" charset="-122"/>
                <a:ea typeface="华文楷体" panose="02010600040101010101" pitchFamily="2" charset="-122"/>
              </a:rPr>
              <a:t>的方向往往是需要资源的</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初学者往往是没有很多资源的</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前往更有资源的环境</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平台？</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苦涩的教训往往可以让你清醒，从而意识到自己做的事情没有本质的意义，其意义在于让你前往更有意义的领域继续努力</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98137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14625-5C40-7B0F-218C-11C600710E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CA7064-053A-EC9F-9D9F-7CBC2AC56EB1}"/>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Progressive Mean Teacher </a:t>
            </a:r>
            <a:r>
              <a:rPr lang="zh-CN" altLang="en-US" sz="3600" dirty="0">
                <a:latin typeface="华文楷体" panose="02010600040101010101" pitchFamily="2" charset="-122"/>
                <a:ea typeface="华文楷体" panose="02010600040101010101" pitchFamily="2" charset="-122"/>
              </a:rPr>
              <a:t>趣闻一则</a:t>
            </a:r>
          </a:p>
        </p:txBody>
      </p:sp>
      <p:sp>
        <p:nvSpPr>
          <p:cNvPr id="3" name="内容占位符 2">
            <a:extLst>
              <a:ext uri="{FF2B5EF4-FFF2-40B4-BE49-F238E27FC236}">
                <a16:creationId xmlns:a16="http://schemas.microsoft.com/office/drawing/2014/main" id="{FC48E7BC-BDED-0EBF-225E-A0BD43CB67D2}"/>
              </a:ext>
            </a:extLst>
          </p:cNvPr>
          <p:cNvSpPr>
            <a:spLocks noGrp="1"/>
          </p:cNvSpPr>
          <p:nvPr>
            <p:ph idx="1"/>
          </p:nvPr>
        </p:nvSpPr>
        <p:spPr>
          <a:xfrm>
            <a:off x="838200" y="1825624"/>
            <a:ext cx="10515600" cy="4764361"/>
          </a:xfrm>
        </p:spPr>
        <p:txBody>
          <a:bodyPr>
            <a:normAutofit/>
          </a:bodyPr>
          <a:lstStyle/>
          <a:p>
            <a:r>
              <a:rPr lang="zh-CN" altLang="en-US" dirty="0">
                <a:latin typeface="华文楷体" panose="02010600040101010101" pitchFamily="2" charset="-122"/>
                <a:ea typeface="华文楷体" panose="02010600040101010101" pitchFamily="2" charset="-122"/>
              </a:rPr>
              <a:t>在半监督领域中，往往 </a:t>
            </a:r>
            <a:r>
              <a:rPr lang="en-US" altLang="zh-CN" dirty="0">
                <a:latin typeface="华文楷体" panose="02010600040101010101" pitchFamily="2" charset="-122"/>
                <a:ea typeface="华文楷体" panose="02010600040101010101" pitchFamily="2" charset="-122"/>
              </a:rPr>
              <a:t>co-training </a:t>
            </a:r>
            <a:r>
              <a:rPr lang="zh-CN" altLang="en-US" dirty="0">
                <a:latin typeface="华文楷体" panose="02010600040101010101" pitchFamily="2" charset="-122"/>
                <a:ea typeface="华文楷体" panose="02010600040101010101" pitchFamily="2" charset="-122"/>
              </a:rPr>
              <a:t>建立在不同的模型的多样性之间，并且向别的模型输出伪标签提供监督</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使用不同的数据 </a:t>
            </a:r>
            <a:r>
              <a:rPr lang="en-US" altLang="zh-CN" dirty="0">
                <a:latin typeface="华文楷体" panose="02010600040101010101" pitchFamily="2" charset="-122"/>
                <a:ea typeface="华文楷体" panose="02010600040101010101" pitchFamily="2" charset="-122"/>
              </a:rPr>
              <a:t>split</a:t>
            </a:r>
            <a:r>
              <a:rPr lang="zh-CN" altLang="en-US" dirty="0">
                <a:latin typeface="华文楷体" panose="02010600040101010101" pitchFamily="2" charset="-122"/>
                <a:ea typeface="华文楷体" panose="02010600040101010101" pitchFamily="2" charset="-122"/>
              </a:rPr>
              <a:t>，使用不同的模型结构</a:t>
            </a:r>
            <a:r>
              <a:rPr lang="en-US" altLang="zh-CN" dirty="0">
                <a:latin typeface="华文楷体" panose="02010600040101010101" pitchFamily="2" charset="-122"/>
                <a:ea typeface="华文楷体" panose="02010600040101010101" pitchFamily="2" charset="-122"/>
              </a:rPr>
              <a:t>……</a:t>
            </a:r>
          </a:p>
          <a:p>
            <a:r>
              <a:rPr lang="zh-CN" altLang="en-US" dirty="0">
                <a:latin typeface="华文楷体" panose="02010600040101010101" pitchFamily="2" charset="-122"/>
                <a:ea typeface="华文楷体" panose="02010600040101010101" pitchFamily="2" charset="-122"/>
              </a:rPr>
              <a:t>它们都有一些天然的 </a:t>
            </a:r>
            <a:r>
              <a:rPr lang="en-US" altLang="zh-CN" dirty="0">
                <a:latin typeface="华文楷体" panose="02010600040101010101" pitchFamily="2" charset="-122"/>
                <a:ea typeface="华文楷体" panose="02010600040101010101" pitchFamily="2" charset="-122"/>
              </a:rPr>
              <a:t>Bias</a:t>
            </a:r>
            <a:r>
              <a:rPr lang="zh-CN" altLang="en-US" dirty="0">
                <a:latin typeface="华文楷体" panose="02010600040101010101" pitchFamily="2" charset="-122"/>
                <a:ea typeface="华文楷体" panose="02010600040101010101" pitchFamily="2" charset="-122"/>
              </a:rPr>
              <a:t>，能否在同一条件下建立多样性</a:t>
            </a:r>
            <a:endParaRPr lang="en-US" altLang="zh-CN" dirty="0">
              <a:latin typeface="华文楷体" panose="02010600040101010101" pitchFamily="2" charset="-122"/>
              <a:ea typeface="华文楷体" panose="02010600040101010101" pitchFamily="2" charset="-122"/>
            </a:endParaRPr>
          </a:p>
          <a:p>
            <a:pPr lvl="1"/>
            <a:r>
              <a:rPr lang="en-US" altLang="zh-CN" dirty="0">
                <a:latin typeface="华文楷体" panose="02010600040101010101" pitchFamily="2" charset="-122"/>
                <a:ea typeface="华文楷体" panose="02010600040101010101" pitchFamily="2" charset="-122"/>
              </a:rPr>
              <a:t>Iteration</a:t>
            </a:r>
            <a:r>
              <a:rPr lang="zh-CN" altLang="en-US" dirty="0">
                <a:latin typeface="华文楷体" panose="02010600040101010101" pitchFamily="2" charset="-122"/>
                <a:ea typeface="华文楷体" panose="02010600040101010101" pitchFamily="2" charset="-122"/>
              </a:rPr>
              <a:t>，通过不同训练时期的模型</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引发的思考</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我能否用更多的模型一起左脚踩右脚</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我能否更好的选择 </a:t>
            </a:r>
            <a:r>
              <a:rPr lang="en-US" altLang="zh-CN" dirty="0">
                <a:latin typeface="华文楷体" panose="02010600040101010101" pitchFamily="2" charset="-122"/>
                <a:ea typeface="华文楷体" panose="02010600040101010101" pitchFamily="2" charset="-122"/>
              </a:rPr>
              <a:t>Iteration</a:t>
            </a:r>
          </a:p>
          <a:p>
            <a:pPr lvl="1"/>
            <a:r>
              <a:rPr lang="zh-CN" altLang="en-US" dirty="0">
                <a:latin typeface="华文楷体" panose="02010600040101010101" pitchFamily="2" charset="-122"/>
                <a:ea typeface="华文楷体" panose="02010600040101010101" pitchFamily="2" charset="-122"/>
              </a:rPr>
              <a:t>我能否控制 </a:t>
            </a:r>
            <a:r>
              <a:rPr lang="en-US" altLang="zh-CN" dirty="0">
                <a:latin typeface="华文楷体" panose="02010600040101010101" pitchFamily="2" charset="-122"/>
                <a:ea typeface="华文楷体" panose="02010600040101010101" pitchFamily="2" charset="-122"/>
              </a:rPr>
              <a:t>EMA……</a:t>
            </a:r>
          </a:p>
          <a:p>
            <a:r>
              <a:rPr lang="zh-CN" altLang="en-US" dirty="0">
                <a:latin typeface="华文楷体" panose="02010600040101010101" pitchFamily="2" charset="-122"/>
                <a:ea typeface="华文楷体" panose="02010600040101010101" pitchFamily="2" charset="-122"/>
              </a:rPr>
              <a:t>但是半监督医学影像这个领域真的存在吗</a:t>
            </a:r>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CD3D567F-7E58-019B-B17A-3C13BB3AD285}"/>
              </a:ext>
            </a:extLst>
          </p:cNvPr>
          <p:cNvPicPr>
            <a:picLocks noChangeAspect="1"/>
          </p:cNvPicPr>
          <p:nvPr/>
        </p:nvPicPr>
        <p:blipFill>
          <a:blip r:embed="rId2"/>
          <a:stretch>
            <a:fillRect/>
          </a:stretch>
        </p:blipFill>
        <p:spPr>
          <a:xfrm>
            <a:off x="7622594" y="3567210"/>
            <a:ext cx="4397758" cy="2925666"/>
          </a:xfrm>
          <a:prstGeom prst="rect">
            <a:avLst/>
          </a:prstGeom>
        </p:spPr>
      </p:pic>
    </p:spTree>
    <p:extLst>
      <p:ext uri="{BB962C8B-B14F-4D97-AF65-F5344CB8AC3E}">
        <p14:creationId xmlns:p14="http://schemas.microsoft.com/office/powerpoint/2010/main" val="243102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065E6-FEE3-065D-9D28-E744F3C8227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AF691C-49CB-A01F-8B39-0643CEA87564}"/>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不要将一切看的太严肃，</a:t>
            </a:r>
            <a:r>
              <a:rPr lang="en-US" altLang="zh-CN" sz="3600" dirty="0">
                <a:latin typeface="华文楷体" panose="02010600040101010101" pitchFamily="2" charset="-122"/>
                <a:ea typeface="华文楷体" panose="02010600040101010101" pitchFamily="2" charset="-122"/>
              </a:rPr>
              <a:t>Why so serious</a:t>
            </a:r>
            <a:r>
              <a:rPr lang="zh-CN" altLang="en-US" sz="3600" dirty="0">
                <a:latin typeface="华文楷体" panose="02010600040101010101" pitchFamily="2" charset="-122"/>
                <a:ea typeface="华文楷体" panose="02010600040101010101" pitchFamily="2" charset="-122"/>
              </a:rPr>
              <a:t>？</a:t>
            </a:r>
          </a:p>
        </p:txBody>
      </p:sp>
      <p:sp>
        <p:nvSpPr>
          <p:cNvPr id="3" name="内容占位符 2">
            <a:extLst>
              <a:ext uri="{FF2B5EF4-FFF2-40B4-BE49-F238E27FC236}">
                <a16:creationId xmlns:a16="http://schemas.microsoft.com/office/drawing/2014/main" id="{18D748B7-BAD4-72F6-6F65-D994CD53B896}"/>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算法只是算法，其中并不包含什么天大的学问</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关注知识的表面，通过实践理解内在联系</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599431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8F28E-3560-5B0F-30B8-81CBA400857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64F4569-D68F-0A65-2BF3-9103C0B94C87}"/>
              </a:ext>
            </a:extLst>
          </p:cNvPr>
          <p:cNvSpPr>
            <a:spLocks noGrp="1"/>
          </p:cNvSpPr>
          <p:nvPr>
            <p:ph type="title"/>
          </p:nvPr>
        </p:nvSpPr>
        <p:spPr/>
        <p:txBody>
          <a:bodyPr>
            <a:normAutofit/>
          </a:bodyPr>
          <a:lstStyle/>
          <a:p>
            <a:r>
              <a:rPr lang="en-US" altLang="zh-CN" sz="3600" dirty="0">
                <a:latin typeface="华文楷体" panose="02010600040101010101" pitchFamily="2" charset="-122"/>
                <a:ea typeface="华文楷体" panose="02010600040101010101" pitchFamily="2" charset="-122"/>
              </a:rPr>
              <a:t>Infrastructure &gt; Idea &gt; Theorem</a:t>
            </a:r>
            <a:endParaRPr lang="zh-CN" altLang="en-US" sz="3600" dirty="0">
              <a:latin typeface="华文楷体" panose="02010600040101010101" pitchFamily="2" charset="-122"/>
              <a:ea typeface="华文楷体" panose="02010600040101010101" pitchFamily="2" charset="-122"/>
            </a:endParaRPr>
          </a:p>
        </p:txBody>
      </p:sp>
      <p:sp>
        <p:nvSpPr>
          <p:cNvPr id="3" name="内容占位符 2">
            <a:extLst>
              <a:ext uri="{FF2B5EF4-FFF2-40B4-BE49-F238E27FC236}">
                <a16:creationId xmlns:a16="http://schemas.microsoft.com/office/drawing/2014/main" id="{EEFA83D1-4506-BAD8-74BD-12297AE07086}"/>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现代的深度学习建立在成熟的工程之上</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对于计算效率的约束带来了训练方法的精简</a:t>
            </a:r>
            <a:endParaRPr lang="en-US" altLang="zh-CN"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Idea </a:t>
            </a:r>
            <a:r>
              <a:rPr lang="zh-CN" altLang="en-US" dirty="0">
                <a:latin typeface="华文楷体" panose="02010600040101010101" pitchFamily="2" charset="-122"/>
                <a:ea typeface="华文楷体" panose="02010600040101010101" pitchFamily="2" charset="-122"/>
              </a:rPr>
              <a:t>在大多数时候比较 </a:t>
            </a:r>
            <a:r>
              <a:rPr lang="en-US" altLang="zh-CN" dirty="0">
                <a:latin typeface="华文楷体" panose="02010600040101010101" pitchFamily="2" charset="-122"/>
                <a:ea typeface="华文楷体" panose="02010600040101010101" pitchFamily="2" charset="-122"/>
              </a:rPr>
              <a:t>Cheap</a:t>
            </a:r>
            <a:r>
              <a:rPr lang="zh-CN" altLang="en-US" dirty="0">
                <a:latin typeface="华文楷体" panose="02010600040101010101" pitchFamily="2" charset="-122"/>
                <a:ea typeface="华文楷体" panose="02010600040101010101" pitchFamily="2" charset="-122"/>
              </a:rPr>
              <a:t>，尤其是对于模型结构的修改</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在大多数时候所谓的理论和可解释只是在求 </a:t>
            </a:r>
            <a:r>
              <a:rPr lang="en-US" altLang="zh-CN" dirty="0">
                <a:latin typeface="华文楷体" panose="02010600040101010101" pitchFamily="2" charset="-122"/>
                <a:ea typeface="华文楷体" panose="02010600040101010101" pitchFamily="2" charset="-122"/>
              </a:rPr>
              <a:t>Lower Bound</a:t>
            </a:r>
            <a:r>
              <a:rPr lang="zh-CN" altLang="en-US" dirty="0">
                <a:latin typeface="华文楷体" panose="02010600040101010101" pitchFamily="2" charset="-122"/>
                <a:ea typeface="华文楷体" panose="02010600040101010101" pitchFamily="2" charset="-122"/>
              </a:rPr>
              <a:t>，有价值的 </a:t>
            </a:r>
            <a:r>
              <a:rPr lang="en-US" altLang="zh-CN" dirty="0">
                <a:latin typeface="华文楷体" panose="02010600040101010101" pitchFamily="2" charset="-122"/>
                <a:ea typeface="华文楷体" panose="02010600040101010101" pitchFamily="2" charset="-122"/>
              </a:rPr>
              <a:t>Bound </a:t>
            </a:r>
            <a:r>
              <a:rPr lang="zh-CN" altLang="en-US" dirty="0">
                <a:latin typeface="华文楷体" panose="02010600040101010101" pitchFamily="2" charset="-122"/>
                <a:ea typeface="华文楷体" panose="02010600040101010101" pitchFamily="2" charset="-122"/>
              </a:rPr>
              <a:t>早已经求的差不多了，现在的主流还是吞吐量与数据的博弈</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52833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E618-822B-6B50-37CE-06EE27B5EE1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0248D8-956F-907F-4165-B4607D17DF4C}"/>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定理</a:t>
            </a:r>
            <a:r>
              <a:rPr lang="en-US" altLang="zh-CN" sz="3600" dirty="0">
                <a:latin typeface="华文楷体" panose="02010600040101010101" pitchFamily="2" charset="-122"/>
                <a:ea typeface="华文楷体" panose="02010600040101010101" pitchFamily="2" charset="-122"/>
              </a:rPr>
              <a:t>4</a:t>
            </a:r>
            <a:r>
              <a:rPr lang="zh-CN" altLang="en-US" sz="3600" dirty="0">
                <a:latin typeface="华文楷体" panose="02010600040101010101" pitchFamily="2" charset="-122"/>
                <a:ea typeface="华文楷体" panose="02010600040101010101" pitchFamily="2" charset="-122"/>
              </a:rPr>
              <a:t>：大多数的困难源于没有上手</a:t>
            </a:r>
          </a:p>
        </p:txBody>
      </p:sp>
      <p:sp>
        <p:nvSpPr>
          <p:cNvPr id="3" name="内容占位符 2">
            <a:extLst>
              <a:ext uri="{FF2B5EF4-FFF2-40B4-BE49-F238E27FC236}">
                <a16:creationId xmlns:a16="http://schemas.microsoft.com/office/drawing/2014/main" id="{0C1736CC-036A-1DB7-C31A-9F4CFA8E14DE}"/>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种一棵树最好的时间：十年前</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现在</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懂的人都懂，不懂的人不敢上手，即使在 </a:t>
            </a:r>
            <a:r>
              <a:rPr lang="en-US" altLang="zh-CN" dirty="0">
                <a:latin typeface="华文楷体" panose="02010600040101010101" pitchFamily="2" charset="-122"/>
                <a:ea typeface="华文楷体" panose="02010600040101010101" pitchFamily="2" charset="-122"/>
              </a:rPr>
              <a:t>Agent </a:t>
            </a:r>
            <a:r>
              <a:rPr lang="zh-CN" altLang="en-US" dirty="0">
                <a:latin typeface="华文楷体" panose="02010600040101010101" pitchFamily="2" charset="-122"/>
                <a:ea typeface="华文楷体" panose="02010600040101010101" pitchFamily="2" charset="-122"/>
              </a:rPr>
              <a:t>时代，</a:t>
            </a:r>
            <a:r>
              <a:rPr lang="en-US" altLang="zh-CN" dirty="0">
                <a:latin typeface="华文楷体" panose="02010600040101010101" pitchFamily="2" charset="-122"/>
                <a:ea typeface="华文楷体" panose="02010600040101010101" pitchFamily="2" charset="-122"/>
              </a:rPr>
              <a:t>Infra </a:t>
            </a:r>
            <a:r>
              <a:rPr lang="zh-CN" altLang="en-US" dirty="0">
                <a:latin typeface="华文楷体" panose="02010600040101010101" pitchFamily="2" charset="-122"/>
                <a:ea typeface="华文楷体" panose="02010600040101010101" pitchFamily="2" charset="-122"/>
              </a:rPr>
              <a:t>高手依然价值很高</a:t>
            </a:r>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22161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64C0-41E4-29C7-FFF0-341C350FD9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5A20AD-F98E-9F22-B951-736065D40EAD}"/>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可解释以及仿生学的算法设计并不适合工业化土壤</a:t>
            </a:r>
          </a:p>
        </p:txBody>
      </p:sp>
      <p:sp>
        <p:nvSpPr>
          <p:cNvPr id="3" name="内容占位符 2">
            <a:extLst>
              <a:ext uri="{FF2B5EF4-FFF2-40B4-BE49-F238E27FC236}">
                <a16:creationId xmlns:a16="http://schemas.microsoft.com/office/drawing/2014/main" id="{DC4E8C81-9DBC-2514-FDB7-6558643788A6}"/>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违背了 </a:t>
            </a:r>
            <a:r>
              <a:rPr lang="en-US" altLang="zh-CN" dirty="0">
                <a:latin typeface="华文楷体" panose="02010600040101010101" pitchFamily="2" charset="-122"/>
                <a:ea typeface="华文楷体" panose="02010600040101010101" pitchFamily="2" charset="-122"/>
              </a:rPr>
              <a:t>The Bitter Lesson</a:t>
            </a:r>
          </a:p>
          <a:p>
            <a:r>
              <a:rPr lang="zh-CN" altLang="en-US" dirty="0">
                <a:latin typeface="华文楷体" panose="02010600040101010101" pitchFamily="2" charset="-122"/>
                <a:ea typeface="华文楷体" panose="02010600040101010101" pitchFamily="2" charset="-122"/>
              </a:rPr>
              <a:t>多数可解释的结构并不在真正意义上可解释，而是通过一些特殊设计的矩阵排列来营造看似可解释的假象</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多数仿生学的设计并不符合计算效率的需求</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40579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F5463-70EB-1665-9438-A917E921E1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C03520-89A4-BAAB-E7C7-DBBAEB2A2E5F}"/>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天下英雄并非过江之鲫</a:t>
            </a:r>
          </a:p>
        </p:txBody>
      </p:sp>
      <p:sp>
        <p:nvSpPr>
          <p:cNvPr id="3" name="内容占位符 2">
            <a:extLst>
              <a:ext uri="{FF2B5EF4-FFF2-40B4-BE49-F238E27FC236}">
                <a16:creationId xmlns:a16="http://schemas.microsoft.com/office/drawing/2014/main" id="{0F6CD6B8-E066-3067-D6A3-96C896050321}"/>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感觉</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高手也不多</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91633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13FA2-8577-B3EA-1262-7FF97C4E519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0CC3AB-1DF1-135E-D214-DE39BA5892EE}"/>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面向 </a:t>
            </a:r>
            <a:r>
              <a:rPr lang="en-US" altLang="zh-CN" sz="3600">
                <a:latin typeface="华文楷体" panose="02010600040101010101" pitchFamily="2" charset="-122"/>
                <a:ea typeface="华文楷体" panose="02010600040101010101" pitchFamily="2" charset="-122"/>
              </a:rPr>
              <a:t>Social </a:t>
            </a:r>
            <a:r>
              <a:rPr lang="zh-CN" altLang="en-US" sz="3600">
                <a:latin typeface="华文楷体" panose="02010600040101010101" pitchFamily="2" charset="-122"/>
                <a:ea typeface="华文楷体" panose="02010600040101010101" pitchFamily="2" charset="-122"/>
              </a:rPr>
              <a:t>的</a:t>
            </a:r>
            <a:r>
              <a:rPr lang="zh-CN" altLang="en-US" sz="3600" dirty="0">
                <a:latin typeface="华文楷体" panose="02010600040101010101" pitchFamily="2" charset="-122"/>
                <a:ea typeface="华文楷体" panose="02010600040101010101" pitchFamily="2" charset="-122"/>
              </a:rPr>
              <a:t>科研流派</a:t>
            </a:r>
          </a:p>
        </p:txBody>
      </p:sp>
      <p:sp>
        <p:nvSpPr>
          <p:cNvPr id="3" name="内容占位符 2">
            <a:extLst>
              <a:ext uri="{FF2B5EF4-FFF2-40B4-BE49-F238E27FC236}">
                <a16:creationId xmlns:a16="http://schemas.microsoft.com/office/drawing/2014/main" id="{E892208A-675F-4E78-3A71-941E19532D49}"/>
              </a:ext>
            </a:extLst>
          </p:cNvPr>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大多数时候一个人的个人水平是有上限的</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后续往往是因为</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接触了更多的资源</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参与了更好的项目</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拥有别人的支持</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忠诚</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信任</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12564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BB920-BE2F-6E69-5A8A-6A6628BCBE4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5F84354-7BFC-9E3A-2D8A-CCE568B8FCE8}"/>
              </a:ext>
            </a:extLst>
          </p:cNvPr>
          <p:cNvSpPr>
            <a:spLocks noGrp="1"/>
          </p:cNvSpPr>
          <p:nvPr>
            <p:ph type="title"/>
          </p:nvPr>
        </p:nvSpPr>
        <p:spPr/>
        <p:txBody>
          <a:bodyPr>
            <a:normAutofit/>
          </a:bodyPr>
          <a:lstStyle/>
          <a:p>
            <a:r>
              <a:rPr lang="zh-CN" altLang="en-US" sz="3600" dirty="0">
                <a:latin typeface="华文楷体" panose="02010600040101010101" pitchFamily="2" charset="-122"/>
                <a:ea typeface="华文楷体" panose="02010600040101010101" pitchFamily="2" charset="-122"/>
              </a:rPr>
              <a:t>谢谢大家</a:t>
            </a:r>
          </a:p>
        </p:txBody>
      </p:sp>
      <p:sp>
        <p:nvSpPr>
          <p:cNvPr id="3" name="内容占位符 2">
            <a:extLst>
              <a:ext uri="{FF2B5EF4-FFF2-40B4-BE49-F238E27FC236}">
                <a16:creationId xmlns:a16="http://schemas.microsoft.com/office/drawing/2014/main" id="{152E303C-6FBA-59CD-68F9-C1FF3C15709F}"/>
              </a:ext>
            </a:extLst>
          </p:cNvPr>
          <p:cNvSpPr>
            <a:spLocks noGrp="1"/>
          </p:cNvSpPr>
          <p:nvPr>
            <p:ph idx="1"/>
          </p:nvPr>
        </p:nvSpPr>
        <p:spPr/>
        <p:txBody>
          <a:bodyPr/>
          <a:lstStyle/>
          <a:p>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636610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TotalTime>
  <Words>2722</Words>
  <Application>Microsoft Office PowerPoint</Application>
  <PresentationFormat>宽屏</PresentationFormat>
  <Paragraphs>222</Paragraphs>
  <Slides>35</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35</vt:i4>
      </vt:variant>
    </vt:vector>
  </HeadingPairs>
  <TitlesOfParts>
    <vt:vector size="41" baseType="lpstr">
      <vt:lpstr>等线</vt:lpstr>
      <vt:lpstr>等线 Light</vt:lpstr>
      <vt:lpstr>华文楷体</vt:lpstr>
      <vt:lpstr>Arial</vt:lpstr>
      <vt:lpstr>Century Gothic</vt:lpstr>
      <vt:lpstr>Office 主题​​</vt:lpstr>
      <vt:lpstr>Zero-to-Hero 成为科研高手</vt:lpstr>
      <vt:lpstr>上一次分享的 Table of Content</vt:lpstr>
      <vt:lpstr>相较上一次</vt:lpstr>
      <vt:lpstr>免责声明</vt:lpstr>
      <vt:lpstr>About Me</vt:lpstr>
      <vt:lpstr>定理1：问题不会变多或者变少，只是权重发生变化</vt:lpstr>
      <vt:lpstr>E.g. 具身智能领域遇到的问题</vt:lpstr>
      <vt:lpstr>将时间花费在更有意义的地方</vt:lpstr>
      <vt:lpstr>如何快速入门科研</vt:lpstr>
      <vt:lpstr>定理2：拥有更多资源的人具有更大价值</vt:lpstr>
      <vt:lpstr>定理3：科研天梯图</vt:lpstr>
      <vt:lpstr>为什么你一定要使用 LLM 来辅助你</vt:lpstr>
      <vt:lpstr>Agent 的基础概念</vt:lpstr>
      <vt:lpstr>Agent 的基础概念</vt:lpstr>
      <vt:lpstr>Agent 时代其实是并行的时代</vt:lpstr>
      <vt:lpstr>一些除了简单的在 codebase 里面操作之外的事</vt:lpstr>
      <vt:lpstr>Agent 后遗症</vt:lpstr>
      <vt:lpstr>领域内的 Paper Scaling Law</vt:lpstr>
      <vt:lpstr>Why？</vt:lpstr>
      <vt:lpstr>什么时候足够了</vt:lpstr>
      <vt:lpstr>利用你的影响力，而不是利用你的执行力</vt:lpstr>
      <vt:lpstr>这也是为什么 Tech Report 和开源项目很好</vt:lpstr>
      <vt:lpstr>The Bitter Lesson/苦涩的教训</vt:lpstr>
      <vt:lpstr>The Bitter Lesson/苦涩的教训</vt:lpstr>
      <vt:lpstr>The Bitter Lesson/苦涩的教训</vt:lpstr>
      <vt:lpstr>The Bitter Lesson/苦涩的教训</vt:lpstr>
      <vt:lpstr>苦涩的苦涩的教训</vt:lpstr>
      <vt:lpstr>Progressive Mean Teacher 趣闻一则</vt:lpstr>
      <vt:lpstr>不要将一切看的太严肃，Why so serious？</vt:lpstr>
      <vt:lpstr>Infrastructure &gt; Idea &gt; Theorem</vt:lpstr>
      <vt:lpstr>定理4：大多数的困难源于没有上手</vt:lpstr>
      <vt:lpstr>可解释以及仿生学的算法设计并不适合工业化土壤</vt:lpstr>
      <vt:lpstr>天下英雄并非过江之鲫</vt:lpstr>
      <vt:lpstr>面向 Social 的科研流派</vt:lpstr>
      <vt:lpstr>谢谢大家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Zero-to-Hero 成为科研高手</dc:title>
  <dc:creator>宁 高</dc:creator>
  <cp:lastModifiedBy>宁 高</cp:lastModifiedBy>
  <cp:revision>16</cp:revision>
  <dcterms:created xsi:type="dcterms:W3CDTF">2026-04-12T17:09:40Z</dcterms:created>
  <dcterms:modified xsi:type="dcterms:W3CDTF">2026-04-17T15:42:39Z</dcterms:modified>
</cp:coreProperties>
</file>